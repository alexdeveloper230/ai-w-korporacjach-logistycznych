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85" r:id="rId6"/>
    <p:sldId id="295" r:id="rId7"/>
    <p:sldId id="286" r:id="rId8"/>
    <p:sldId id="287" r:id="rId9"/>
    <p:sldId id="294" r:id="rId10"/>
    <p:sldId id="289" r:id="rId11"/>
    <p:sldId id="288" r:id="rId12"/>
    <p:sldId id="290" r:id="rId13"/>
    <p:sldId id="291" r:id="rId14"/>
    <p:sldId id="292" r:id="rId15"/>
    <p:sldId id="293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4" r:id="rId24"/>
    <p:sldId id="305" r:id="rId25"/>
    <p:sldId id="306" r:id="rId26"/>
    <p:sldId id="307" r:id="rId27"/>
    <p:sldId id="314" r:id="rId28"/>
    <p:sldId id="308" r:id="rId29"/>
    <p:sldId id="309" r:id="rId30"/>
    <p:sldId id="310" r:id="rId31"/>
    <p:sldId id="311" r:id="rId32"/>
    <p:sldId id="312" r:id="rId33"/>
    <p:sldId id="313" r:id="rId34"/>
    <p:sldId id="318" r:id="rId35"/>
    <p:sldId id="31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Ah0sByTG_I" TargetMode="External"/><Relationship Id="rId2" Type="http://schemas.openxmlformats.org/officeDocument/2006/relationships/hyperlink" Target="https://www.youtube.com/watch?v=M_tFsoxwnN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vxGmVwVEY6Q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b="1" dirty="0"/>
              <a:t>ANALIZY EKONOMICZNE W PROJEKCIE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WSKAZÓWKI PRAKTYCZNE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2438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3172" y="973668"/>
            <a:ext cx="9774621" cy="706964"/>
          </a:xfrm>
        </p:spPr>
        <p:txBody>
          <a:bodyPr/>
          <a:lstStyle/>
          <a:p>
            <a:r>
              <a:rPr lang="pl-PL" b="1" dirty="0"/>
              <a:t>Metody wykorzystywane w projektach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83172" y="2564524"/>
            <a:ext cx="10016359" cy="3665483"/>
          </a:xfrm>
        </p:spPr>
        <p:txBody>
          <a:bodyPr/>
          <a:lstStyle/>
          <a:p>
            <a:r>
              <a:rPr lang="pl-PL" sz="2000" dirty="0"/>
              <a:t>Analiza SWOT</a:t>
            </a:r>
          </a:p>
          <a:p>
            <a:r>
              <a:rPr lang="pl-PL" sz="2000" dirty="0"/>
              <a:t>Analiza PEST</a:t>
            </a:r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r>
              <a:rPr lang="pl-PL" sz="2000" u="sng" dirty="0"/>
              <a:t>Techniki planowania i </a:t>
            </a:r>
            <a:r>
              <a:rPr lang="pl-PL" sz="2000" u="sng" dirty="0" err="1"/>
              <a:t>diagramatyzacji</a:t>
            </a:r>
            <a:r>
              <a:rPr lang="pl-PL" sz="2000" dirty="0"/>
              <a:t>: </a:t>
            </a:r>
          </a:p>
          <a:p>
            <a:r>
              <a:rPr lang="pl-PL" sz="2000" dirty="0"/>
              <a:t>WBS - </a:t>
            </a:r>
            <a:r>
              <a:rPr lang="en-US" sz="2000" dirty="0" err="1"/>
              <a:t>struktura</a:t>
            </a:r>
            <a:r>
              <a:rPr lang="en-US" sz="2000" dirty="0"/>
              <a:t> </a:t>
            </a:r>
            <a:r>
              <a:rPr lang="en-US" sz="2000" dirty="0" err="1"/>
              <a:t>działań</a:t>
            </a:r>
            <a:r>
              <a:rPr lang="en-US" sz="2000" dirty="0"/>
              <a:t> (</a:t>
            </a:r>
            <a:r>
              <a:rPr lang="en-US" sz="2000" dirty="0" err="1"/>
              <a:t>ang.</a:t>
            </a:r>
            <a:r>
              <a:rPr lang="en-US" sz="2000" dirty="0"/>
              <a:t> Work Break-Down Structure)</a:t>
            </a:r>
            <a:endParaRPr lang="pl-PL" sz="2000" dirty="0"/>
          </a:p>
          <a:p>
            <a:r>
              <a:rPr lang="pl-PL" sz="2000" dirty="0"/>
              <a:t>Sieć PERT – schemat powiązanych działań</a:t>
            </a:r>
          </a:p>
          <a:p>
            <a:r>
              <a:rPr lang="pl-PL" sz="2000" dirty="0"/>
              <a:t>Wykres Gantta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91257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76" y="515369"/>
            <a:ext cx="9270124" cy="599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1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ANALIZA PEST 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8882" y="2908300"/>
            <a:ext cx="11351173" cy="2830348"/>
          </a:xfrm>
        </p:spPr>
        <p:txBody>
          <a:bodyPr>
            <a:normAutofit/>
          </a:bodyPr>
          <a:lstStyle/>
          <a:p>
            <a:r>
              <a:rPr lang="pl-PL" sz="2000" b="1" dirty="0">
                <a:solidFill>
                  <a:schemeClr val="accent1"/>
                </a:solidFill>
              </a:rPr>
              <a:t>Analiza PEST</a:t>
            </a:r>
            <a:r>
              <a:rPr lang="pl-PL" sz="2000" dirty="0">
                <a:solidFill>
                  <a:schemeClr val="tx1"/>
                </a:solidFill>
              </a:rPr>
              <a:t> jest metodą służącą do badania </a:t>
            </a:r>
            <a:r>
              <a:rPr lang="pl-PL" sz="2000" dirty="0" err="1">
                <a:solidFill>
                  <a:schemeClr val="tx1"/>
                </a:solidFill>
              </a:rPr>
              <a:t>makrootoczenia</a:t>
            </a:r>
            <a:r>
              <a:rPr lang="pl-PL" sz="2000" dirty="0">
                <a:solidFill>
                  <a:schemeClr val="tx1"/>
                </a:solidFill>
              </a:rPr>
              <a:t> - makroekonomicznego otoczenia przedsiębiorstwa. </a:t>
            </a:r>
          </a:p>
          <a:p>
            <a:r>
              <a:rPr lang="pl-PL" sz="2000" dirty="0">
                <a:solidFill>
                  <a:schemeClr val="tx1"/>
                </a:solidFill>
              </a:rPr>
              <a:t>Inaczej nazywana jest generalną segmentacją otoczenia. </a:t>
            </a:r>
          </a:p>
          <a:p>
            <a:r>
              <a:rPr lang="pl-PL" sz="2000" dirty="0">
                <a:solidFill>
                  <a:schemeClr val="tx1"/>
                </a:solidFill>
              </a:rPr>
              <a:t>Określa podstawowe sfery otoczenia, czyli obszary, które mają kluczowy wpływ na funkcjonowanie organizacji. </a:t>
            </a:r>
          </a:p>
          <a:p>
            <a:r>
              <a:rPr lang="pl-PL" sz="2000" dirty="0">
                <a:solidFill>
                  <a:schemeClr val="tx1"/>
                </a:solidFill>
              </a:rPr>
              <a:t>Wyznacza </a:t>
            </a:r>
            <a:r>
              <a:rPr lang="pl-PL" sz="2000">
                <a:solidFill>
                  <a:schemeClr val="tx1"/>
                </a:solidFill>
              </a:rPr>
              <a:t>także przyszłą </a:t>
            </a:r>
            <a:r>
              <a:rPr lang="pl-PL" sz="2000" dirty="0">
                <a:solidFill>
                  <a:schemeClr val="tx1"/>
                </a:solidFill>
              </a:rPr>
              <a:t>strategię działania organizacji poprzez dogłębną analizę.</a:t>
            </a:r>
          </a:p>
        </p:txBody>
      </p:sp>
    </p:spTree>
    <p:extLst>
      <p:ext uri="{BB962C8B-B14F-4D97-AF65-F5344CB8AC3E}">
        <p14:creationId xmlns:p14="http://schemas.microsoft.com/office/powerpoint/2010/main" val="133505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ANALIZA PEST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88578" y="2259724"/>
            <a:ext cx="11056883" cy="4430110"/>
          </a:xfrm>
        </p:spPr>
        <p:txBody>
          <a:bodyPr>
            <a:normAutofit/>
          </a:bodyPr>
          <a:lstStyle/>
          <a:p>
            <a:r>
              <a:rPr lang="pl-PL" sz="2000" dirty="0"/>
              <a:t>Punktem wyjścia jest zestawienie podstawowych czynników zewnętrznych wpływających na organizację </a:t>
            </a:r>
            <a:r>
              <a:rPr lang="pl-PL" sz="2000" i="1" dirty="0"/>
              <a:t>(stąd też wywodzi się jej nazwa):</a:t>
            </a:r>
          </a:p>
          <a:p>
            <a:r>
              <a:rPr lang="pl-PL" sz="2000" b="1" dirty="0" err="1"/>
              <a:t>P</a:t>
            </a:r>
            <a:r>
              <a:rPr lang="pl-PL" sz="2000" dirty="0" err="1"/>
              <a:t>olitical</a:t>
            </a:r>
            <a:r>
              <a:rPr lang="pl-PL" sz="2000" dirty="0"/>
              <a:t> - polityczne,</a:t>
            </a:r>
          </a:p>
          <a:p>
            <a:r>
              <a:rPr lang="pl-PL" sz="2000" b="1" dirty="0" err="1"/>
              <a:t>E</a:t>
            </a:r>
            <a:r>
              <a:rPr lang="pl-PL" sz="2000" dirty="0" err="1"/>
              <a:t>conomic</a:t>
            </a:r>
            <a:r>
              <a:rPr lang="pl-PL" sz="2000" dirty="0"/>
              <a:t> – ekonomiczne,</a:t>
            </a:r>
          </a:p>
          <a:p>
            <a:r>
              <a:rPr lang="pl-PL" sz="2000" b="1" dirty="0" err="1"/>
              <a:t>S</a:t>
            </a:r>
            <a:r>
              <a:rPr lang="pl-PL" sz="2000" dirty="0" err="1"/>
              <a:t>ocial</a:t>
            </a:r>
            <a:r>
              <a:rPr lang="pl-PL" sz="2000" dirty="0"/>
              <a:t> – społeczno-kulturowe,</a:t>
            </a:r>
          </a:p>
          <a:p>
            <a:r>
              <a:rPr lang="pl-PL" sz="2000" b="1" dirty="0" err="1"/>
              <a:t>T</a:t>
            </a:r>
            <a:r>
              <a:rPr lang="pl-PL" sz="2000" dirty="0" err="1"/>
              <a:t>echnological</a:t>
            </a:r>
            <a:r>
              <a:rPr lang="pl-PL" sz="2000" dirty="0"/>
              <a:t> – technologiczne.</a:t>
            </a:r>
          </a:p>
          <a:p>
            <a:pPr marL="0" indent="0">
              <a:buNone/>
            </a:pPr>
            <a:endParaRPr lang="pl-PL" sz="2000" dirty="0"/>
          </a:p>
          <a:p>
            <a:r>
              <a:rPr lang="pl-PL" sz="2000" dirty="0"/>
              <a:t>W niektórych odmianach analizy pojawia się dodatkowo samodzielny czynnik środowiskowy - </a:t>
            </a:r>
            <a:r>
              <a:rPr lang="pl-PL" sz="2000" b="1" dirty="0"/>
              <a:t>Environment</a:t>
            </a:r>
            <a:r>
              <a:rPr lang="pl-PL" sz="2000" dirty="0"/>
              <a:t>(analizę nazywamy wtedy PEEST). </a:t>
            </a:r>
          </a:p>
          <a:p>
            <a:r>
              <a:rPr lang="pl-PL" sz="2000" dirty="0"/>
              <a:t>Niekiedy spotykamy się jeszcze z wyróżnieniem otoczenia </a:t>
            </a:r>
            <a:r>
              <a:rPr lang="pl-PL" sz="2000" b="1" dirty="0" err="1"/>
              <a:t>Legal</a:t>
            </a:r>
            <a:r>
              <a:rPr lang="pl-PL" sz="2000" dirty="0"/>
              <a:t> (nazwa analizy - PESTEL).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7021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24" y="149775"/>
            <a:ext cx="8628993" cy="647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3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76605"/>
              </p:ext>
            </p:extLst>
          </p:nvPr>
        </p:nvGraphicFramePr>
        <p:xfrm>
          <a:off x="0" y="202396"/>
          <a:ext cx="12192000" cy="654524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62516003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7322324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9675949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1189999"/>
                    </a:ext>
                  </a:extLst>
                </a:gridCol>
              </a:tblGrid>
              <a:tr h="552151">
                <a:tc>
                  <a:txBody>
                    <a:bodyPr/>
                    <a:lstStyle/>
                    <a:p>
                      <a:pPr algn="ctr"/>
                      <a:r>
                        <a:rPr lang="pl-PL" sz="1600" dirty="0">
                          <a:effectLst/>
                        </a:rPr>
                        <a:t>Polityczno-prawne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600">
                          <a:effectLst/>
                        </a:rPr>
                        <a:t>Ekonomiczno-gospodarcze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600">
                          <a:effectLst/>
                        </a:rPr>
                        <a:t>Społeczno-kulturowe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600">
                          <a:effectLst/>
                        </a:rPr>
                        <a:t>Technologiczne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918884"/>
                  </a:ext>
                </a:extLst>
              </a:tr>
              <a:tr h="5993094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Polityka podatkowa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Stabilność polityki państwa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Prawo pracy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Przepisy dotyczące prowadzenia działalności gospodarczej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Polityka socjalna państwa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Ustawodawstwo antymonopolowe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Stabilność władzy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Przepisy dotyczące handlu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Ustawodawstwo dotyczące ochrony konsumenta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Przepisy o ochronie środowiska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pl-PL" sz="1600" dirty="0">
                          <a:effectLst/>
                        </a:rPr>
                        <a:t>*</a:t>
                      </a:r>
                      <a:r>
                        <a:rPr lang="pl-PL" sz="1600" baseline="0" dirty="0">
                          <a:effectLst/>
                        </a:rPr>
                        <a:t> </a:t>
                      </a:r>
                      <a:r>
                        <a:rPr lang="pl-PL" sz="1600" baseline="0">
                          <a:effectLst/>
                        </a:rPr>
                        <a:t>Prawo budowlane</a:t>
                      </a:r>
                      <a:endParaRPr lang="pl-PL" sz="1600" dirty="0">
                        <a:effectLst/>
                      </a:endParaRPr>
                    </a:p>
                  </a:txBody>
                  <a:tcPr marL="35961" marR="35961" marT="17981" marB="1798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Bezrobocie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Inflacja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Stopy procentowe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Kursy walut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Dostępność kredytów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Konsumpcja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Inwestycje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Oszczędności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Cykle koniunktury gospodarczej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Poziom nakładów na naukę, kulturę i oświatę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Poziom nakładów na opiekę zdrowotną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Dochody gospodarstw domowych / </a:t>
                      </a:r>
                      <a:r>
                        <a:rPr lang="pl-PL" sz="1600" dirty="0" err="1">
                          <a:effectLst/>
                        </a:rPr>
                        <a:t>przedsiębirstwa</a:t>
                      </a:r>
                      <a:endParaRPr lang="pl-PL" sz="1600" dirty="0">
                        <a:effectLst/>
                      </a:endParaRP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Rentowność przedsiębiorstw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Ceny paliw i energii, surowców i ziemi</a:t>
                      </a:r>
                    </a:p>
                  </a:txBody>
                  <a:tcPr marL="35961" marR="35961" marT="17981" marB="1798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Poziom dochodów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Postęp cywilizacyjny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Poziom wykształcenia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Mobilność społeczna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Styl życia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Świadomość ekologiczna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Wymagania i oczekiwania konsumentów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Poziom nauki, kultury i sztuki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Świadomość praw obywatelskich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Religia i etyka pracy</a:t>
                      </a:r>
                    </a:p>
                  </a:txBody>
                  <a:tcPr marL="35961" marR="35961" marT="17981" marB="1798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Poziom technologiczny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Zgodność z normami jakości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Innowacyjność i nowoczesność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Nakłady państwa na badania i rozwój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Szybkość transferu nowoczesnych technologii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Poziom rozwoju transportu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Funkcjonowanie standardów jakościowych, dotyczących bezpieczeństwa i ochrony zdrowia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600" dirty="0">
                          <a:effectLst/>
                        </a:rPr>
                        <a:t>Dostęp do informacji</a:t>
                      </a:r>
                    </a:p>
                  </a:txBody>
                  <a:tcPr marL="35961" marR="35961" marT="17981" marB="1798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34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421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CEL ANALIZY PEST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1945" y="2207172"/>
            <a:ext cx="11151476" cy="4535214"/>
          </a:xfrm>
        </p:spPr>
        <p:txBody>
          <a:bodyPr>
            <a:normAutofit/>
          </a:bodyPr>
          <a:lstStyle/>
          <a:p>
            <a:r>
              <a:rPr lang="pl-PL" sz="2000" dirty="0"/>
              <a:t>Analiza PEST została trafnie nazwana </a:t>
            </a:r>
            <a:r>
              <a:rPr lang="pl-PL" sz="2000" i="1" dirty="0"/>
              <a:t>typowym spojrzeniem z lotu ptaka na krajobraz biznesowy, polityczny, społeczny, w którym działa dana organizacja</a:t>
            </a:r>
            <a:r>
              <a:rPr lang="pl-PL" sz="2000" dirty="0"/>
              <a:t> [K. </a:t>
            </a:r>
            <a:r>
              <a:rPr lang="pl-PL" sz="2000" dirty="0" err="1"/>
              <a:t>Obłój</a:t>
            </a:r>
            <a:r>
              <a:rPr lang="pl-PL" sz="2000" dirty="0"/>
              <a:t> 2007, s. 211]. </a:t>
            </a:r>
          </a:p>
          <a:p>
            <a:r>
              <a:rPr lang="pl-PL" sz="2000" dirty="0"/>
              <a:t>Dzięki przeprowadzeniu tej analizy firma może zapobiec wielu porażkom. W swoich rozważaniach bierze pod uwagę obszary otoczenia, które często są pomijane, lub zapomniane. </a:t>
            </a:r>
          </a:p>
          <a:p>
            <a:r>
              <a:rPr lang="pl-PL" sz="2000" dirty="0"/>
              <a:t>Analiza PEST uzmysławia przedsiębiorstwu również różnorakie zagrożenia. Dzięki tej świadomości organizacja może skutecznie walczyć z zagrożeniami i zapobiegać rozczarowań.</a:t>
            </a:r>
          </a:p>
          <a:p>
            <a:r>
              <a:rPr lang="pl-PL" sz="2000" dirty="0"/>
              <a:t>Wyniki analizy PEST mogą stanowić punkt wyjścia do przygotowania analizy szans i zagrożeń, wykorzystywanej w trakcie przygotowywania analizy SWOT. Są to więc metody wzajemnie uzupełniające się.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6785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ETAPY ANALIZY PEST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36330" y="2180896"/>
            <a:ext cx="11246069" cy="4677104"/>
          </a:xfrm>
        </p:spPr>
        <p:txBody>
          <a:bodyPr>
            <a:normAutofit lnSpcReduction="10000"/>
          </a:bodyPr>
          <a:lstStyle/>
          <a:p>
            <a:r>
              <a:rPr lang="pl-PL" b="1" dirty="0">
                <a:solidFill>
                  <a:schemeClr val="accent1"/>
                </a:solidFill>
              </a:rPr>
              <a:t>Etap pierwszy - Wyróżnienie istotnych czynników dotyczących poszczególnych segmentów otoczenia</a:t>
            </a:r>
          </a:p>
          <a:p>
            <a:r>
              <a:rPr lang="pl-PL" dirty="0"/>
              <a:t>W pierwszym kroku </a:t>
            </a:r>
            <a:r>
              <a:rPr lang="pl-PL" b="1" dirty="0"/>
              <a:t>przedsiębiorstwo określa najważniejsze czynniki poszczególnych segmentów otoczenia </a:t>
            </a:r>
            <a:r>
              <a:rPr lang="pl-PL" b="1" i="1" dirty="0"/>
              <a:t>(politycznego, ekonomicznego, społeczno-kulturowego, technologicznego</a:t>
            </a:r>
            <a:r>
              <a:rPr lang="pl-PL" b="1" dirty="0"/>
              <a:t>), które znacząco wpływają lub mogą wpływać na działalność organizacji</a:t>
            </a:r>
            <a:r>
              <a:rPr lang="pl-PL" dirty="0"/>
              <a:t>. </a:t>
            </a:r>
          </a:p>
          <a:p>
            <a:r>
              <a:rPr lang="pl-PL" dirty="0"/>
              <a:t>Przykładowo, dla firmy prowadzącej szkolenia, ważnym czynnikiem polityczno-prawnym będzie fakt, że Unia Europejska umożliwia uzyskanie dofinansowania. </a:t>
            </a:r>
          </a:p>
          <a:p>
            <a:r>
              <a:rPr lang="pl-PL" dirty="0"/>
              <a:t>Dla przedsiębiorstwa prowadzącego usługi transportowe bardzo istotnym czynnikiem ekonomicznym będzie wzrost ceny paliwa oraz wprowadzenie opłat na drogach i ich wysokość. </a:t>
            </a:r>
          </a:p>
          <a:p>
            <a:r>
              <a:rPr lang="pl-PL" dirty="0"/>
              <a:t>Producent drogich, ekskluzywnych mebli powinien liczyć się z ważnym czynnikiem społeczno-kulturowym, jakim będzie małe zainteresowania społeczeństwa jego produktami, którego przyczyną będą niskie zarobki. </a:t>
            </a:r>
          </a:p>
          <a:p>
            <a:r>
              <a:rPr lang="pl-PL" dirty="0"/>
              <a:t>W końcu, firmy produkujące telefony komórkowe bądź komputery, będą szczególnie uwzględniać czynniki technologiczne, takie jak wykorzystywanie najnowszych osiągnięć techniki czy nauki.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7206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ETAPY ANALIZY PEST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46538" y="2638097"/>
            <a:ext cx="11288110" cy="3697014"/>
          </a:xfrm>
        </p:spPr>
        <p:txBody>
          <a:bodyPr/>
          <a:lstStyle/>
          <a:p>
            <a:r>
              <a:rPr lang="pl-PL" sz="2000" b="1" dirty="0">
                <a:solidFill>
                  <a:schemeClr val="accent1"/>
                </a:solidFill>
              </a:rPr>
              <a:t>Etap drugi - Ustalenie wpływu każdego z czynników na funkcjonowanie organizacji</a:t>
            </a:r>
          </a:p>
          <a:p>
            <a:pPr marL="0" indent="0">
              <a:buNone/>
            </a:pPr>
            <a:endParaRPr lang="pl-PL" sz="2000" b="1" dirty="0">
              <a:solidFill>
                <a:schemeClr val="accent1"/>
              </a:solidFill>
            </a:endParaRPr>
          </a:p>
          <a:p>
            <a:r>
              <a:rPr lang="pl-PL" sz="2000" dirty="0"/>
              <a:t>W drugim etapie firma ocenia wpływ każdego czynnika na jej funkcjonowanie. </a:t>
            </a:r>
          </a:p>
          <a:p>
            <a:r>
              <a:rPr lang="pl-PL" sz="2000" dirty="0"/>
              <a:t>Należy ocenić, które czynniki wpływają obecnie na przedsiębiorstwo najbardziej, a także które będą wpływać w przyszłości. </a:t>
            </a:r>
          </a:p>
          <a:p>
            <a:r>
              <a:rPr lang="pl-PL" sz="2000" dirty="0"/>
              <a:t>W taki sposób powstaje zestawienie czynników podzielonych ze względu na siłę </a:t>
            </a:r>
            <a:r>
              <a:rPr lang="pl-PL" sz="2000" i="1" dirty="0"/>
              <a:t>(największy i najmniejszy wpływ) </a:t>
            </a:r>
            <a:r>
              <a:rPr lang="pl-PL" sz="2000" dirty="0"/>
              <a:t>oraz na czas oddziaływania (</a:t>
            </a:r>
            <a:r>
              <a:rPr lang="pl-PL" sz="2000" i="1" dirty="0"/>
              <a:t>czy firma ma z nimi do czynienia teraz, czy będzie miała w przyszłości)</a:t>
            </a:r>
            <a:r>
              <a:rPr lang="pl-PL" sz="2000" dirty="0"/>
              <a:t>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95317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ETAPY ANALIZY PEST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725214" y="2343807"/>
            <a:ext cx="10857185" cy="4099034"/>
          </a:xfrm>
        </p:spPr>
        <p:txBody>
          <a:bodyPr/>
          <a:lstStyle/>
          <a:p>
            <a:r>
              <a:rPr lang="pl-PL" b="1" dirty="0">
                <a:solidFill>
                  <a:schemeClr val="accent1"/>
                </a:solidFill>
              </a:rPr>
              <a:t>Etap trzeci - Określenie relacji między organizacją a </a:t>
            </a:r>
            <a:r>
              <a:rPr lang="pl-PL" b="1" dirty="0" err="1">
                <a:solidFill>
                  <a:schemeClr val="accent1"/>
                </a:solidFill>
              </a:rPr>
              <a:t>makrootoczeniem</a:t>
            </a:r>
            <a:endParaRPr lang="pl-PL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pl-PL" b="1" dirty="0">
              <a:solidFill>
                <a:schemeClr val="accent1"/>
              </a:solidFill>
            </a:endParaRPr>
          </a:p>
          <a:p>
            <a:r>
              <a:rPr lang="pl-PL" dirty="0"/>
              <a:t>Trzeci i ostatni krok polega na określeniu relacji między firmą a jej </a:t>
            </a:r>
            <a:r>
              <a:rPr lang="pl-PL" dirty="0" err="1"/>
              <a:t>makrootoczeniem</a:t>
            </a:r>
            <a:r>
              <a:rPr lang="pl-PL" dirty="0"/>
              <a:t>. </a:t>
            </a:r>
          </a:p>
          <a:p>
            <a:r>
              <a:rPr lang="pl-PL" b="1" dirty="0"/>
              <a:t>Organizacja zestawia dany czynnik jak wpływa lub jak może wpływać na jej działalność w przyszłości. </a:t>
            </a:r>
            <a:r>
              <a:rPr lang="pl-PL" b="1" i="1" dirty="0"/>
              <a:t>(w aspekcie pozytywnym i negatywnym)</a:t>
            </a:r>
          </a:p>
          <a:p>
            <a:r>
              <a:rPr lang="pl-PL" dirty="0"/>
              <a:t>Przykładowo, firma szkoleniowa rozpatrzy możliwość otrzymania dofinansowania z Unii Europejskiej oraz konsekwencje z tego płynące (np. obniżenie cen szkoleń, ponieważ konkurenci również mogą mieć dostęp do dofinansowania). </a:t>
            </a:r>
          </a:p>
          <a:p>
            <a:r>
              <a:rPr lang="pl-PL" dirty="0"/>
              <a:t>Natomiast producent ekskluzywnych mebli określi, co zrobić, aby zwiększyć zainteresowanie społeczeństwa jego produktami (przykładowo cenę mebli rozłożyć na raty poszerzając grono swoich klientów).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43571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764" y="214061"/>
            <a:ext cx="6779173" cy="652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3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WBS - </a:t>
            </a:r>
            <a:r>
              <a:rPr lang="en-US" b="1" dirty="0" err="1"/>
              <a:t>struktura</a:t>
            </a:r>
            <a:r>
              <a:rPr lang="en-US" b="1" dirty="0"/>
              <a:t> </a:t>
            </a:r>
            <a:r>
              <a:rPr lang="en-US" b="1" dirty="0" err="1"/>
              <a:t>działań</a:t>
            </a:r>
            <a:r>
              <a:rPr lang="en-US" b="1" dirty="0"/>
              <a:t> </a:t>
            </a:r>
            <a:br>
              <a:rPr lang="pl-PL" b="1" dirty="0"/>
            </a:br>
            <a:r>
              <a:rPr lang="en-US" b="1" dirty="0"/>
              <a:t>( Work Break-Down Structure)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30924" y="2806262"/>
            <a:ext cx="11246069" cy="3804743"/>
          </a:xfrm>
        </p:spPr>
        <p:txBody>
          <a:bodyPr/>
          <a:lstStyle/>
          <a:p>
            <a:r>
              <a:rPr lang="pl-PL" sz="2000" b="1" dirty="0">
                <a:solidFill>
                  <a:schemeClr val="accent1"/>
                </a:solidFill>
              </a:rPr>
              <a:t>Struktura podziału pracy</a:t>
            </a:r>
            <a:r>
              <a:rPr lang="pl-PL" sz="2000" dirty="0">
                <a:solidFill>
                  <a:schemeClr val="accent1"/>
                </a:solidFill>
              </a:rPr>
              <a:t> </a:t>
            </a:r>
            <a:r>
              <a:rPr lang="pl-PL" sz="2000" dirty="0"/>
              <a:t>to hierarchiczny opis działań i zadań, których wykonanie jest niezbędne w celu realizacji projektu. </a:t>
            </a:r>
          </a:p>
          <a:p>
            <a:pPr marL="0" indent="0">
              <a:buNone/>
            </a:pPr>
            <a:endParaRPr lang="pl-PL" sz="2000" dirty="0"/>
          </a:p>
          <a:p>
            <a:r>
              <a:rPr lang="pl-PL" sz="2000" dirty="0"/>
              <a:t>Zazwyczaj składa się z trzech poziomów:</a:t>
            </a:r>
          </a:p>
          <a:p>
            <a:pPr marL="0" indent="0">
              <a:buNone/>
            </a:pPr>
            <a:r>
              <a:rPr lang="pl-PL" sz="2000" dirty="0"/>
              <a:t> - podział projektu na fazy,</a:t>
            </a:r>
          </a:p>
          <a:p>
            <a:pPr marL="0" indent="0">
              <a:buNone/>
            </a:pPr>
            <a:r>
              <a:rPr lang="pl-PL" sz="2000" dirty="0"/>
              <a:t> - podział faz na etapy,</a:t>
            </a:r>
          </a:p>
          <a:p>
            <a:pPr marL="0" indent="0">
              <a:buNone/>
            </a:pPr>
            <a:r>
              <a:rPr lang="pl-PL" sz="2000" dirty="0"/>
              <a:t> - podział etapów na zadania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46129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WBS JEST…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99393" y="2575036"/>
            <a:ext cx="11235558" cy="4025461"/>
          </a:xfrm>
        </p:spPr>
        <p:txBody>
          <a:bodyPr>
            <a:normAutofit/>
          </a:bodyPr>
          <a:lstStyle/>
          <a:p>
            <a:r>
              <a:rPr lang="pl-PL" sz="2000" b="1" dirty="0">
                <a:solidFill>
                  <a:schemeClr val="accent1"/>
                </a:solidFill>
              </a:rPr>
              <a:t>narzędziem procesu myślowego </a:t>
            </a:r>
            <a:r>
              <a:rPr lang="pl-PL" sz="2000" i="1" dirty="0"/>
              <a:t>(planowania i projektowania) </a:t>
            </a:r>
            <a:r>
              <a:rPr lang="pl-PL" sz="2000" dirty="0"/>
              <a:t>- pomaga menedżerowi projektu i zespołowi projektowemu wizualizować sposób, w jaki praca będzie przeprowadzona i efektywnie zarządzana,</a:t>
            </a:r>
          </a:p>
          <a:p>
            <a:r>
              <a:rPr lang="pl-PL" sz="2000" b="1" dirty="0">
                <a:solidFill>
                  <a:schemeClr val="accent1"/>
                </a:solidFill>
              </a:rPr>
              <a:t>narzędziem projektowania architektury </a:t>
            </a:r>
            <a:r>
              <a:rPr lang="pl-PL" sz="2000" i="1" dirty="0"/>
              <a:t>(graficzna ilustracja pracy w projekcie) </a:t>
            </a:r>
            <a:r>
              <a:rPr lang="pl-PL" sz="2000" dirty="0"/>
              <a:t>- pokazuje, w jaki sposób poszczególne części są ze sobą powiązane,</a:t>
            </a:r>
          </a:p>
          <a:p>
            <a:r>
              <a:rPr lang="pl-PL" sz="2000" b="1" dirty="0">
                <a:solidFill>
                  <a:schemeClr val="accent1"/>
                </a:solidFill>
              </a:rPr>
              <a:t>narzędziem planowania </a:t>
            </a:r>
            <a:r>
              <a:rPr lang="pl-PL" sz="2000" dirty="0"/>
              <a:t>- służy zespołowi projektowemu jako szczegółowa prezentacja zbioru zadań, które muszą być wykonane w celu ukończenia projektu,</a:t>
            </a:r>
          </a:p>
          <a:p>
            <a:r>
              <a:rPr lang="pl-PL" sz="2000" b="1" dirty="0">
                <a:solidFill>
                  <a:schemeClr val="accent1"/>
                </a:solidFill>
              </a:rPr>
              <a:t>narzędziem raportowania o stanie projektu </a:t>
            </a:r>
            <a:r>
              <a:rPr lang="pl-PL" sz="2000" dirty="0"/>
              <a:t>(</a:t>
            </a:r>
            <a:r>
              <a:rPr lang="pl-PL" sz="2000" i="1" dirty="0"/>
              <a:t>wyższe poziomy działań wynikają z działań na poziomach niższych) </a:t>
            </a:r>
            <a:r>
              <a:rPr lang="pl-PL" sz="2000" dirty="0"/>
              <a:t>- definiowanie punktów kontrolnych, w odniesieniu do których zostanie raportowany postęp prac nad projektem.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05730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PODEJŚCIA DO TWORZENIA </a:t>
            </a:r>
            <a:br>
              <a:rPr lang="pl-PL" b="1" dirty="0"/>
            </a:br>
            <a:r>
              <a:rPr lang="pl-PL" b="1" dirty="0"/>
              <a:t>STRUKTURY PODZIAŁU PRAC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20111" y="2711669"/>
            <a:ext cx="10752083" cy="3489435"/>
          </a:xfrm>
        </p:spPr>
        <p:txBody>
          <a:bodyPr>
            <a:normAutofit/>
          </a:bodyPr>
          <a:lstStyle/>
          <a:p>
            <a:r>
              <a:rPr lang="pl-PL" sz="2000" b="1" dirty="0">
                <a:solidFill>
                  <a:schemeClr val="accent1"/>
                </a:solidFill>
              </a:rPr>
              <a:t>podejście przedmiotowe </a:t>
            </a:r>
            <a:r>
              <a:rPr lang="pl-PL" sz="2000" dirty="0"/>
              <a:t>- definiujemy rezultaty pracy w ramach projektu poprzez ich części składowe umożliwiające osiąganie tych rezultatów (rekomendowane przez Instytut Zarządzania Projektami - PMI),</a:t>
            </a:r>
          </a:p>
          <a:p>
            <a:r>
              <a:rPr lang="pl-PL" sz="2000" b="1" dirty="0">
                <a:solidFill>
                  <a:schemeClr val="accent1"/>
                </a:solidFill>
              </a:rPr>
              <a:t>podejście czynnościowe </a:t>
            </a:r>
            <a:r>
              <a:rPr lang="pl-PL" sz="2000" dirty="0"/>
              <a:t>- definiujemy rezultaty projektu poprzez działania, które trzeba wykonać, aby rezultaty zostały osiągnięte (np.: projektuj-buduj-testuj-wdrażaj oraz podejście od strony celów cząstkowych projektu),</a:t>
            </a:r>
          </a:p>
          <a:p>
            <a:r>
              <a:rPr lang="pl-PL" sz="2000" b="1" dirty="0">
                <a:solidFill>
                  <a:schemeClr val="accent1"/>
                </a:solidFill>
              </a:rPr>
              <a:t>podejście organizacyjne </a:t>
            </a:r>
            <a:r>
              <a:rPr lang="pl-PL" sz="2000" dirty="0"/>
              <a:t>- definiujemy rezultaty projektu poprzez jednostki organizacyjne biorące udział w pracach (działy, procesy, lokalizacja geograficzna).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93500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Metody tworzenia WBS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7862" y="2448909"/>
            <a:ext cx="11277600" cy="4277711"/>
          </a:xfrm>
        </p:spPr>
        <p:txBody>
          <a:bodyPr>
            <a:normAutofit lnSpcReduction="10000"/>
          </a:bodyPr>
          <a:lstStyle/>
          <a:p>
            <a:r>
              <a:rPr lang="pl-PL" sz="2000" b="1" dirty="0">
                <a:solidFill>
                  <a:schemeClr val="accent1"/>
                </a:solidFill>
              </a:rPr>
              <a:t>Metoda zstępująca (top-down) </a:t>
            </a:r>
            <a:r>
              <a:rPr lang="pl-PL" sz="2000" dirty="0"/>
              <a:t>- zaczynając od najwyższego poziomu, poszczególne elementy dzieli się na ich części składowe. </a:t>
            </a:r>
            <a:r>
              <a:rPr lang="pl-PL" sz="2000" b="1" dirty="0"/>
              <a:t>Metodę tą stosujemy, gdy przed rozpoczęciem pracy mamy dobre rozeznanie w zakresie działań wymaganych do realizacji projektu</a:t>
            </a:r>
            <a:r>
              <a:rPr lang="pl-PL" sz="2000" dirty="0"/>
              <a:t>. Dana metoda pozwala na szczegółowe przeanalizowanie działań należących do każdej kategorii i zmniejsza ryzyko pominięcia któregoś z nich.</a:t>
            </a:r>
          </a:p>
          <a:p>
            <a:pPr marL="0" indent="0">
              <a:buNone/>
            </a:pPr>
            <a:endParaRPr lang="pl-PL" sz="2000" dirty="0"/>
          </a:p>
          <a:p>
            <a:r>
              <a:rPr lang="pl-PL" sz="2000" b="1" dirty="0">
                <a:solidFill>
                  <a:schemeClr val="accent1"/>
                </a:solidFill>
              </a:rPr>
              <a:t>Metoda burzy mózgów (</a:t>
            </a:r>
            <a:r>
              <a:rPr lang="pl-PL" sz="2000" b="1" dirty="0" err="1">
                <a:solidFill>
                  <a:schemeClr val="accent1"/>
                </a:solidFill>
              </a:rPr>
              <a:t>brainstorming</a:t>
            </a:r>
            <a:r>
              <a:rPr lang="pl-PL" sz="2000" dirty="0"/>
              <a:t>) - wypisanie wszystkich działań związanych z realizacją projektu, a następnie pogrupowanie ich w kategorie. </a:t>
            </a:r>
            <a:r>
              <a:rPr lang="pl-PL" sz="2000" b="1" dirty="0"/>
              <a:t>Metodę stosujemy, gdy na etapie planowania nie wiemy, jakie dokładnie działania będą konieczne do realizacji projektu</a:t>
            </a:r>
            <a:r>
              <a:rPr lang="pl-PL" sz="2000" dirty="0"/>
              <a:t>. Pozwala ona uzyskać pełny zakres potencjalnych działań bez potrzeby organizowania ich w ostateczną strukturę hierarchiczną. Jeżeli uzna się, że dane działanie jest niezbędną częścią projektu, można określić zakres prac powiązanych z jego realizacją.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88268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710" y="86710"/>
            <a:ext cx="9028386" cy="677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6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8" y="42719"/>
            <a:ext cx="11625191" cy="673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00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65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17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93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SIEĆ PERT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94290" y="2259724"/>
            <a:ext cx="11340661" cy="4598276"/>
          </a:xfrm>
        </p:spPr>
        <p:txBody>
          <a:bodyPr>
            <a:normAutofit/>
          </a:bodyPr>
          <a:lstStyle/>
          <a:p>
            <a:r>
              <a:rPr lang="pl-PL" b="1" dirty="0">
                <a:solidFill>
                  <a:schemeClr val="accent1"/>
                </a:solidFill>
              </a:rPr>
              <a:t>PERT</a:t>
            </a:r>
            <a:r>
              <a:rPr lang="pl-PL" dirty="0"/>
              <a:t> to probabilistyczna metoda planowania i kontroli projektu. </a:t>
            </a:r>
          </a:p>
          <a:p>
            <a:r>
              <a:rPr lang="pl-PL" dirty="0"/>
              <a:t>Skrót pochodzi od angielskiej nazwy Project Evaluation and </a:t>
            </a:r>
            <a:r>
              <a:rPr lang="pl-PL" dirty="0" err="1"/>
              <a:t>Review</a:t>
            </a:r>
            <a:r>
              <a:rPr lang="pl-PL" dirty="0"/>
              <a:t> </a:t>
            </a:r>
            <a:r>
              <a:rPr lang="pl-PL" dirty="0" err="1"/>
              <a:t>Technique</a:t>
            </a:r>
            <a:r>
              <a:rPr lang="pl-PL" dirty="0"/>
              <a:t> </a:t>
            </a:r>
            <a:r>
              <a:rPr lang="pl-PL" i="1" dirty="0"/>
              <a:t>(w niektórych źródłach "</a:t>
            </a:r>
            <a:r>
              <a:rPr lang="pl-PL" i="1" dirty="0" err="1"/>
              <a:t>project</a:t>
            </a:r>
            <a:r>
              <a:rPr lang="pl-PL" i="1" dirty="0"/>
              <a:t>” jest zastąpione słowem "program”)</a:t>
            </a:r>
            <a:r>
              <a:rPr lang="pl-PL" dirty="0"/>
              <a:t>. </a:t>
            </a:r>
          </a:p>
          <a:p>
            <a:r>
              <a:rPr lang="pl-PL" dirty="0"/>
              <a:t>Metoda ta pozwala określić drogę krytyczną, najwcześniejsze i najpóźniejsze czasy poszczególnych zdarzeń, a także zapasy czasu na poszczególnych zadaniach.</a:t>
            </a:r>
          </a:p>
          <a:p>
            <a:r>
              <a:rPr lang="pl-PL" dirty="0"/>
              <a:t>Metoda PERT jest szczególnie użyteczna w zarządzaniu projektami o charakterze badawczo-rozwojowym, gdzie deterministyczne określenie czasów czynności jest na ogół trudne.</a:t>
            </a:r>
          </a:p>
          <a:p>
            <a:r>
              <a:rPr lang="pl-PL" dirty="0"/>
              <a:t>Metoda PERT została opracowana w latach 1956-58 w celu uproszczenia procedur planowania i harmonogramowania dużych i skomplikowanych projektów. </a:t>
            </a:r>
          </a:p>
          <a:p>
            <a:r>
              <a:rPr lang="pl-PL" dirty="0"/>
              <a:t>Biuro Projektów Specjalnych Marynarki Wojennej USA zleciło opracowanie nowej metody zarządzania czasem na potrzeby programu atomowych okrętów podwodnych </a:t>
            </a:r>
            <a:r>
              <a:rPr lang="pl-PL" dirty="0" err="1"/>
              <a:t>Polaris</a:t>
            </a:r>
            <a:endParaRPr lang="pl-PL" dirty="0"/>
          </a:p>
          <a:p>
            <a:r>
              <a:rPr lang="pl-PL" dirty="0"/>
              <a:t>Spektakularnym przykładem zastosowania metody PERT były przygotowania do Olimpiady Zimowej w Grenoble (1968) – realizacja projektu trwała od 1965 roku, aż do chwili otwarcia igrzysk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75629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Tworzenie diagramu sieciowego PERT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20412" y="2427891"/>
            <a:ext cx="11225049" cy="4267199"/>
          </a:xfrm>
        </p:spPr>
        <p:txBody>
          <a:bodyPr/>
          <a:lstStyle/>
          <a:p>
            <a:r>
              <a:rPr lang="pl-PL" sz="2000" dirty="0"/>
              <a:t>Metoda PERT opiera się na stworzeniu diagramu strzałkowego uwzględniającego relacje między poszczególnymi zadaniami i nadrzędność zadań względem siebie.</a:t>
            </a:r>
          </a:p>
          <a:p>
            <a:r>
              <a:rPr lang="pl-PL" sz="2000" dirty="0"/>
              <a:t>Diagram jest najczęściej tworzony przy użyciu notacji </a:t>
            </a:r>
            <a:r>
              <a:rPr lang="pl-PL" sz="2000" dirty="0" err="1"/>
              <a:t>AoN</a:t>
            </a:r>
            <a:r>
              <a:rPr lang="pl-PL" sz="2000" dirty="0"/>
              <a:t> - Activity on </a:t>
            </a:r>
            <a:r>
              <a:rPr lang="pl-PL" sz="2000" dirty="0" err="1"/>
              <a:t>Nodes</a:t>
            </a:r>
            <a:r>
              <a:rPr lang="pl-PL" sz="2000" dirty="0"/>
              <a:t> gdzie zadania przedstawiane są w postaci prostokątów (węzłów) połączonych strzałkami. </a:t>
            </a:r>
          </a:p>
          <a:p>
            <a:r>
              <a:rPr lang="pl-PL" sz="2000" dirty="0"/>
              <a:t>Każdy prostokąt obrazujący zadanie lub czynność zawiera następujące informacje:</a:t>
            </a:r>
          </a:p>
          <a:p>
            <a:pPr marL="0" indent="0">
              <a:buNone/>
            </a:pPr>
            <a:r>
              <a:rPr lang="pl-PL" sz="2000" dirty="0"/>
              <a:t> - numer identyfikacyjny i opis zadania,</a:t>
            </a:r>
          </a:p>
          <a:p>
            <a:pPr marL="0" indent="0">
              <a:buNone/>
            </a:pPr>
            <a:r>
              <a:rPr lang="pl-PL" sz="2000" dirty="0"/>
              <a:t> - najwcześniejszy i najpóźniejszy termin rozpoczęcia </a:t>
            </a:r>
            <a:r>
              <a:rPr lang="pl-PL" sz="2000" i="1" dirty="0"/>
              <a:t>(ES-</a:t>
            </a:r>
            <a:r>
              <a:rPr lang="pl-PL" sz="2000" i="1" dirty="0" err="1"/>
              <a:t>Early</a:t>
            </a:r>
            <a:r>
              <a:rPr lang="pl-PL" sz="2000" i="1" dirty="0"/>
              <a:t> Start oraz EF-</a:t>
            </a:r>
            <a:r>
              <a:rPr lang="pl-PL" sz="2000" i="1" dirty="0" err="1"/>
              <a:t>Early</a:t>
            </a:r>
            <a:r>
              <a:rPr lang="pl-PL" sz="2000" i="1" dirty="0"/>
              <a:t> </a:t>
            </a:r>
            <a:r>
              <a:rPr lang="pl-PL" sz="2000" i="1" dirty="0" err="1"/>
              <a:t>Finish</a:t>
            </a:r>
            <a:r>
              <a:rPr lang="pl-PL" sz="2000" i="1" dirty="0"/>
              <a:t>)</a:t>
            </a:r>
            <a:r>
              <a:rPr lang="pl-PL" sz="2000" dirty="0"/>
              <a:t>,</a:t>
            </a:r>
          </a:p>
          <a:p>
            <a:pPr marL="0" indent="0">
              <a:buNone/>
            </a:pPr>
            <a:r>
              <a:rPr lang="pl-PL" sz="2000" dirty="0"/>
              <a:t> - najwcześniejszy i najpóźniejszy termin zakończenia </a:t>
            </a:r>
            <a:r>
              <a:rPr lang="pl-PL" sz="2000" i="1" dirty="0"/>
              <a:t>( LS-</a:t>
            </a:r>
            <a:r>
              <a:rPr lang="pl-PL" sz="2000" i="1" dirty="0" err="1"/>
              <a:t>Late</a:t>
            </a:r>
            <a:r>
              <a:rPr lang="pl-PL" sz="2000" i="1" dirty="0"/>
              <a:t> Start oraz LF-</a:t>
            </a:r>
            <a:r>
              <a:rPr lang="pl-PL" sz="2000" i="1" dirty="0" err="1"/>
              <a:t>Late</a:t>
            </a:r>
            <a:r>
              <a:rPr lang="pl-PL" sz="2000" i="1" dirty="0"/>
              <a:t> </a:t>
            </a:r>
            <a:r>
              <a:rPr lang="pl-PL" sz="2000" i="1" dirty="0" err="1"/>
              <a:t>Finish</a:t>
            </a:r>
            <a:r>
              <a:rPr lang="pl-PL" sz="2000" i="1" dirty="0"/>
              <a:t>)</a:t>
            </a:r>
            <a:r>
              <a:rPr lang="pl-PL" sz="2000" dirty="0"/>
              <a:t>,</a:t>
            </a:r>
          </a:p>
          <a:p>
            <a:pPr marL="0" indent="0">
              <a:buNone/>
            </a:pPr>
            <a:r>
              <a:rPr lang="pl-PL" sz="2000" dirty="0"/>
              <a:t> - czas trwania zadania </a:t>
            </a:r>
            <a:r>
              <a:rPr lang="pl-PL" sz="2000" i="1" dirty="0"/>
              <a:t>(D-</a:t>
            </a:r>
            <a:r>
              <a:rPr lang="pl-PL" sz="2000" i="1" dirty="0" err="1"/>
              <a:t>Duration</a:t>
            </a:r>
            <a:r>
              <a:rPr lang="pl-PL" sz="2000" i="1" dirty="0"/>
              <a:t>)</a:t>
            </a:r>
            <a:r>
              <a:rPr lang="pl-PL" sz="2000" dirty="0"/>
              <a:t>,</a:t>
            </a:r>
          </a:p>
          <a:p>
            <a:pPr marL="0" indent="0">
              <a:buNone/>
            </a:pPr>
            <a:r>
              <a:rPr lang="pl-PL" sz="2000" dirty="0"/>
              <a:t> - całkowity zapas czasu </a:t>
            </a:r>
            <a:r>
              <a:rPr lang="pl-PL" sz="2000" i="1" dirty="0"/>
              <a:t>(F-</a:t>
            </a:r>
            <a:r>
              <a:rPr lang="pl-PL" sz="2000" i="1" dirty="0" err="1"/>
              <a:t>Float</a:t>
            </a:r>
            <a:r>
              <a:rPr lang="pl-PL" sz="2000" i="1" dirty="0"/>
              <a:t>)</a:t>
            </a:r>
            <a:r>
              <a:rPr lang="pl-PL" sz="2000" dirty="0"/>
              <a:t>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78351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Określanie czasu trwania zadań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3572" y="2342712"/>
            <a:ext cx="11971283" cy="4515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4572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W celu określenia czasu trwania każdego z zadań, należy określić trzy wartości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– warianty czasu wykonania:</a:t>
            </a:r>
            <a:endParaRPr kumimoji="0" lang="pl-PL" altLang="pl-PL" sz="2000" b="1" i="0" u="none" strike="noStrike" cap="none" normalizeH="0" baseline="0" dirty="0">
              <a:ln>
                <a:noFill/>
              </a:ln>
              <a:solidFill>
                <a:srgbClr val="001133"/>
              </a:solidFill>
              <a:effectLst/>
              <a:latin typeface="+mn-lt"/>
            </a:endParaRPr>
          </a:p>
          <a:p>
            <a:pPr marL="914400" marR="0" lvl="2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1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t</a:t>
            </a:r>
            <a:r>
              <a:rPr kumimoji="0" lang="pl-PL" altLang="pl-PL" sz="2000" b="1" i="0" u="none" strike="noStrike" cap="none" normalizeH="0" baseline="-3000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a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 – najkrótszy możliwy (in. optymistyczny) czas trwania danej czynności </a:t>
            </a:r>
          </a:p>
          <a:p>
            <a:pPr marL="914400" marR="0" lvl="2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(wystąpi w warunkach szczególnie korzystnych dla realizacji zadania)</a:t>
            </a:r>
          </a:p>
          <a:p>
            <a:pPr marL="914400" marR="0" lvl="2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1" i="0" u="none" strike="noStrike" cap="none" normalizeH="0" baseline="0" dirty="0" err="1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t</a:t>
            </a:r>
            <a:r>
              <a:rPr kumimoji="0" lang="pl-PL" altLang="pl-PL" sz="2000" b="1" i="0" u="none" strike="noStrike" cap="none" normalizeH="0" baseline="-30000" dirty="0" err="1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b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 – najdłuższy możliwy (in. pesymistyczny) czas trwania danej czynności </a:t>
            </a:r>
          </a:p>
          <a:p>
            <a:pPr marL="914400" marR="0" lvl="2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(wystąpi w przypadku szeregu trudności powodujących opóźnienie realizacji zadania),</a:t>
            </a:r>
          </a:p>
          <a:p>
            <a:pPr marL="914400" marR="0" lvl="2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1" i="0" u="none" strike="noStrike" cap="none" normalizeH="0" baseline="0" dirty="0" err="1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t</a:t>
            </a:r>
            <a:r>
              <a:rPr kumimoji="0" lang="pl-PL" altLang="pl-PL" sz="2000" b="1" i="0" u="none" strike="noStrike" cap="none" normalizeH="0" baseline="-30000" dirty="0" err="1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m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 – najbardziej prawdopodobny (in. realistyczny) czas trwania danej czynności (t</a:t>
            </a:r>
            <a:r>
              <a:rPr kumimoji="0" lang="pl-PL" altLang="pl-PL" sz="2000" b="0" i="0" u="none" strike="noStrike" cap="none" normalizeH="0" baseline="-3000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a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 &lt; </a:t>
            </a:r>
            <a:r>
              <a:rPr kumimoji="0" lang="pl-PL" altLang="pl-PL" sz="2000" b="0" i="0" u="none" strike="noStrike" cap="none" normalizeH="0" baseline="0" dirty="0" err="1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t</a:t>
            </a:r>
            <a:r>
              <a:rPr kumimoji="0" lang="pl-PL" altLang="pl-PL" sz="2000" b="0" i="0" u="none" strike="noStrike" cap="none" normalizeH="0" baseline="-30000" dirty="0" err="1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m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 &lt; </a:t>
            </a:r>
            <a:r>
              <a:rPr kumimoji="0" lang="pl-PL" altLang="pl-PL" sz="2000" b="0" i="0" u="none" strike="noStrike" cap="none" normalizeH="0" baseline="0" dirty="0" err="1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t</a:t>
            </a:r>
            <a:r>
              <a:rPr kumimoji="0" lang="pl-PL" altLang="pl-PL" sz="2000" b="0" i="0" u="none" strike="noStrike" cap="none" normalizeH="0" baseline="-30000" dirty="0" err="1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b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2000" b="0" i="0" u="none" strike="noStrike" cap="none" normalizeH="0" baseline="0" dirty="0">
              <a:ln>
                <a:noFill/>
              </a:ln>
              <a:solidFill>
                <a:srgbClr val="001133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Do obliczenia oczekiwanego czasu realizacji zadania możemy posłużyć się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trójkątnym rozkładem gęstości prawdopodobieństwa.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2000" b="0" i="0" u="none" strike="noStrike" cap="none" normalizeH="0" baseline="0" dirty="0">
              <a:ln>
                <a:noFill/>
              </a:ln>
              <a:solidFill>
                <a:srgbClr val="001133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rgbClr val="001133"/>
                </a:solidFill>
                <a:effectLst/>
                <a:latin typeface="+mn-lt"/>
              </a:rPr>
              <a:t>Wówczas należałoby posłużyć się wzorem</a:t>
            </a:r>
            <a:endParaRPr kumimoji="0" lang="pl-PL" altLang="pl-P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te=</a:t>
            </a:r>
            <a:r>
              <a:rPr kumimoji="0" lang="pl-PL" altLang="pl-P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ta+tm+tb</a:t>
            </a:r>
            <a:endParaRPr kumimoji="0" lang="pl-PL" altLang="pl-P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2000" dirty="0">
                <a:latin typeface="+mn-lt"/>
              </a:rPr>
              <a:t>            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5150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Określanie czasu trwania zadań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78068" y="2603500"/>
            <a:ext cx="10531365" cy="4165162"/>
          </a:xfrm>
        </p:spPr>
        <p:txBody>
          <a:bodyPr/>
          <a:lstStyle/>
          <a:p>
            <a:r>
              <a:rPr lang="pl-PL" dirty="0"/>
              <a:t>Następnie obliczamy odchylenie standardowe i wariancję czasu realizacji zadania wg poniższych wzorów:</a:t>
            </a:r>
          </a:p>
          <a:p>
            <a:endParaRPr lang="pl-PL" dirty="0"/>
          </a:p>
          <a:p>
            <a:r>
              <a:rPr lang="pl-PL" dirty="0"/>
              <a:t>odchylenie standardowe</a:t>
            </a:r>
          </a:p>
          <a:p>
            <a:pPr marL="0" indent="0">
              <a:buNone/>
            </a:pPr>
            <a:r>
              <a:rPr lang="pl-PL" dirty="0"/>
              <a:t>       </a:t>
            </a:r>
            <a:r>
              <a:rPr lang="pl-PL" dirty="0" err="1"/>
              <a:t>δt</a:t>
            </a:r>
            <a:r>
              <a:rPr lang="pl-PL" dirty="0"/>
              <a:t>=</a:t>
            </a:r>
            <a:r>
              <a:rPr lang="pl-PL" dirty="0" err="1"/>
              <a:t>ta+tb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             6</a:t>
            </a:r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wariancja</a:t>
            </a:r>
          </a:p>
          <a:p>
            <a:pPr marL="0" indent="0">
              <a:buNone/>
            </a:pPr>
            <a:r>
              <a:rPr lang="pl-PL" dirty="0"/>
              <a:t>δ2t= </a:t>
            </a:r>
            <a:r>
              <a:rPr lang="pl-PL" dirty="0" err="1"/>
              <a:t>tb</a:t>
            </a:r>
            <a:r>
              <a:rPr lang="pl-PL" dirty="0"/>
              <a:t>−ta  2</a:t>
            </a:r>
          </a:p>
          <a:p>
            <a:pPr marL="0" indent="0">
              <a:buNone/>
            </a:pPr>
            <a:r>
              <a:rPr lang="pl-PL" dirty="0"/>
              <a:t>             6</a:t>
            </a:r>
          </a:p>
        </p:txBody>
      </p:sp>
      <p:cxnSp>
        <p:nvCxnSpPr>
          <p:cNvPr id="6" name="Łącznik prosty 5"/>
          <p:cNvCxnSpPr/>
          <p:nvPr/>
        </p:nvCxnSpPr>
        <p:spPr>
          <a:xfrm>
            <a:off x="1030014" y="4466897"/>
            <a:ext cx="11246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Łącznik prosty 7"/>
          <p:cNvCxnSpPr/>
          <p:nvPr/>
        </p:nvCxnSpPr>
        <p:spPr>
          <a:xfrm>
            <a:off x="1154953" y="6106510"/>
            <a:ext cx="7369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Nawias otwierający 9"/>
          <p:cNvSpPr/>
          <p:nvPr/>
        </p:nvSpPr>
        <p:spPr>
          <a:xfrm>
            <a:off x="1154953" y="5791200"/>
            <a:ext cx="74757" cy="59909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Nawias zamykający 10"/>
          <p:cNvSpPr/>
          <p:nvPr/>
        </p:nvSpPr>
        <p:spPr>
          <a:xfrm>
            <a:off x="1891862" y="5791201"/>
            <a:ext cx="45719" cy="599090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7338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Rozwiązywanie sieci zadań </a:t>
            </a:r>
            <a:br>
              <a:rPr lang="pl-PL" b="1" dirty="0"/>
            </a:br>
            <a:r>
              <a:rPr lang="pl-PL" b="1" dirty="0"/>
              <a:t>metodą PERT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15310" y="2722179"/>
            <a:ext cx="11225048" cy="3384331"/>
          </a:xfrm>
        </p:spPr>
        <p:txBody>
          <a:bodyPr>
            <a:normAutofit/>
          </a:bodyPr>
          <a:lstStyle/>
          <a:p>
            <a:r>
              <a:rPr lang="pl-PL" dirty="0"/>
              <a:t>Podstawowym celem analizy diagramu PERT jest określenie najkrótszego czasu ukończenia projektu, z uwzględnieniem wszelkich ograniczeń, zależności logicznych i estymowanego czasu trwania poszczególnych czynności.</a:t>
            </a:r>
          </a:p>
          <a:p>
            <a:r>
              <a:rPr lang="pl-PL" dirty="0"/>
              <a:t>Rozwiązując sieć metodą PERT, należy pamiętać, że tworzony diagram opiera się najczęściej na subiektywnych ocenach członków zespołu (szczególnie w przypadku niepowtarzalnych projektów o charakterze badawczo-rozwojowym). W związku z tym, cała analiza, jak i jej wyniki mają charakter probabilistyczny. </a:t>
            </a:r>
          </a:p>
          <a:p>
            <a:r>
              <a:rPr lang="pl-PL" dirty="0"/>
              <a:t>Jedynie w niektórych przypadkach, gdy opieramy się na danych historycznych lub porównawczych (dane dotyczące podobnych zadań wykonanych w toku realizacji innych projektów) wynik jest bliższy rzeczywistości. </a:t>
            </a:r>
          </a:p>
        </p:txBody>
      </p:sp>
    </p:spTree>
    <p:extLst>
      <p:ext uri="{BB962C8B-B14F-4D97-AF65-F5344CB8AC3E}">
        <p14:creationId xmlns:p14="http://schemas.microsoft.com/office/powerpoint/2010/main" val="1261753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Pierwszy etap - analiza "do przodu"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04497" y="2364828"/>
            <a:ext cx="11161986" cy="4330262"/>
          </a:xfrm>
        </p:spPr>
        <p:txBody>
          <a:bodyPr>
            <a:normAutofit/>
          </a:bodyPr>
          <a:lstStyle/>
          <a:p>
            <a:r>
              <a:rPr lang="pl-PL" b="1" dirty="0"/>
              <a:t>Pierwszym etapem</a:t>
            </a:r>
            <a:r>
              <a:rPr lang="pl-PL" dirty="0"/>
              <a:t> jest obliczenie najwcześniejszego możliwego zakończenia projektu, co w praktyce oznacza obliczenie tego parametru dla ostatniego zadania w diagramie (patrząc od lewej do prawej). </a:t>
            </a:r>
          </a:p>
          <a:p>
            <a:r>
              <a:rPr lang="pl-PL" dirty="0"/>
              <a:t>Rozpoczynamy od najwcześniejszego rozpoczęcia zadania nr 1 (czyli 0) i dodajemy oczekiwany czas trwania tego zadania. W wyniku otrzymujemy najwcześniejszy możliwy czas zakończenia zadania, który jest jednocześnie najwcześniejszym możliwym czasem rozpoczęcia kolejnego. Analogicznie postępujemy aż do ostatniego zadania w diagramie.</a:t>
            </a:r>
          </a:p>
          <a:p>
            <a:r>
              <a:rPr lang="pl-PL" dirty="0"/>
              <a:t>Tradycyjnie jako czas rozpoczęcia pierwszego zadania wpisywano "1" - pierwszy dzień trwania projektu. Powodowało to jednak komplikacje w dalszych obliczeniach, dlatego też współcześnie zaczyna się raczej od "0". Niemniej obie metody są prawidłowe.</a:t>
            </a:r>
          </a:p>
          <a:p>
            <a:r>
              <a:rPr lang="pl-PL" i="1" dirty="0"/>
              <a:t>UWAGA – w sytuacji, gdy do jednego zadania prowadzą dwie ścieżki w relacji "koniec-start", obie ścieżki muszą się zakończyć, aby zadanie mogło wystąpić. Jako początek kolejnego zadania przyjmujemy zatem koniec dłuższej z nich.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71444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Drugi etap - analiza "wstecz"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46842" y="2312275"/>
            <a:ext cx="11498317" cy="4545725"/>
          </a:xfrm>
        </p:spPr>
        <p:txBody>
          <a:bodyPr>
            <a:normAutofit lnSpcReduction="10000"/>
          </a:bodyPr>
          <a:lstStyle/>
          <a:p>
            <a:r>
              <a:rPr lang="pl-PL" dirty="0"/>
              <a:t>Celem </a:t>
            </a:r>
            <a:r>
              <a:rPr lang="pl-PL" b="1" dirty="0"/>
              <a:t>drugiego etapu</a:t>
            </a:r>
            <a:r>
              <a:rPr lang="pl-PL" dirty="0"/>
              <a:t> jest określenie zapasów czasu dla każdego zadania. </a:t>
            </a:r>
          </a:p>
          <a:p>
            <a:r>
              <a:rPr lang="pl-PL" dirty="0"/>
              <a:t>Całkowity zapas czasu to o jaki możemy opóźnić rozpoczęcie realizacji danego zadania, nie powodując opóźnienia realizacji następnego. </a:t>
            </a:r>
          </a:p>
          <a:p>
            <a:r>
              <a:rPr lang="pl-PL" dirty="0"/>
              <a:t>Zadania pierwsze i ostatnie zawsze mają zerowy zapas czasu.</a:t>
            </a:r>
          </a:p>
          <a:p>
            <a:r>
              <a:rPr lang="pl-PL" dirty="0"/>
              <a:t>Obliczenia rozpoczynamy tym razem od ostatniego zadania. </a:t>
            </a:r>
          </a:p>
          <a:p>
            <a:r>
              <a:rPr lang="pl-PL" dirty="0"/>
              <a:t>Najwcześniejszy czas zakończenia zadania (obliczony w pierwszym etapie) jest jednocześnie najpóźniejszym czasem jego zakończenia. Od tej wartości odejmujemy oczekiwany czas trwania zadania. Wynik jest najpóźniejszym czasem rozpoczęcia. Analogicznie postępujemy z kolejnymi zadaniami, poruszając się wzdłuż powiązań logicznych, od prawej do lewej, aż do zadania początkowego.</a:t>
            </a:r>
          </a:p>
          <a:p>
            <a:r>
              <a:rPr lang="pl-PL" i="1" dirty="0"/>
              <a:t>UWAGA – analogicznie do obliczeń w pierwszym etapie, jako najpóźniejszy czas zakończenia zadania do którego prowadzą dwie ścieżki w relacji "koniec-start", przyjmujemy najpóźniejszy czas rozpoczęcia poprzedniego zadania na dłuższej ścieżce. Analizujemy od prawej do lewej, a więc "poprzednie zadanie" oznacza w tym przypadku zadanie po prawej stronie od zadania analizowanego.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49510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Ścieżka krytyczna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725214" y="2945085"/>
            <a:ext cx="10594428" cy="3224487"/>
          </a:xfrm>
        </p:spPr>
        <p:txBody>
          <a:bodyPr>
            <a:normAutofit/>
          </a:bodyPr>
          <a:lstStyle/>
          <a:p>
            <a:r>
              <a:rPr lang="pl-PL" sz="2000" dirty="0"/>
              <a:t>Po obliczeniu najwcześniejszego możliwego terminu zakończenia projektu i określeniu zapasów czasu dla poszczególnych zadań, zawsze pojawi się przynajmniej jeden łańcuch czynności z zerowym zapasem czasu. </a:t>
            </a:r>
          </a:p>
          <a:p>
            <a:r>
              <a:rPr lang="pl-PL" sz="2000" dirty="0"/>
              <a:t>Są to czynności o strategicznym znaczeniu dla realizacji całego projektu, gdyż jakiekolwiek opóźnienie w ich wykonaniu spowoduje opóźnienie zakończenia całego projektu. </a:t>
            </a:r>
          </a:p>
          <a:p>
            <a:r>
              <a:rPr lang="pl-PL" sz="2000" dirty="0"/>
              <a:t>Na rysunkach ścieżka krytyczna najczęściej zaznaczona zostaje pogrubionymi strzałkami.</a:t>
            </a:r>
          </a:p>
        </p:txBody>
      </p:sp>
    </p:spTree>
    <p:extLst>
      <p:ext uri="{BB962C8B-B14F-4D97-AF65-F5344CB8AC3E}">
        <p14:creationId xmlns:p14="http://schemas.microsoft.com/office/powerpoint/2010/main" val="3780353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02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97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5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99091" y="973668"/>
            <a:ext cx="10058400" cy="706964"/>
          </a:xfrm>
        </p:spPr>
        <p:txBody>
          <a:bodyPr/>
          <a:lstStyle/>
          <a:p>
            <a:r>
              <a:rPr lang="pl-PL" b="1" dirty="0"/>
              <a:t>WYKRES SIECIOWY – ŹRÓDŁA INTERNETOWE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hlinkClick r:id="rId2"/>
              </a:rPr>
              <a:t>https://www.youtube.com/watch?v=M_tFsoxwnNE</a:t>
            </a:r>
            <a:endParaRPr lang="pl-PL" dirty="0">
              <a:hlinkClick r:id="rId3"/>
            </a:endParaRPr>
          </a:p>
          <a:p>
            <a:r>
              <a:rPr lang="pl-PL" dirty="0">
                <a:hlinkClick r:id="rId3"/>
              </a:rPr>
              <a:t>https://www.youtube.com/watch?v=IAh0sByTG_I</a:t>
            </a:r>
            <a:endParaRPr lang="pl-PL" dirty="0"/>
          </a:p>
          <a:p>
            <a:r>
              <a:rPr lang="pl-PL" dirty="0">
                <a:hlinkClick r:id="rId4"/>
              </a:rPr>
              <a:t>https://www.youtube.com/watch?v=vxGmVwVEY6Q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3195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DZIĘKUJĘ ZA UWAGĘ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OPRACOWANIE: Agnieszka Gierczycka</a:t>
            </a:r>
          </a:p>
        </p:txBody>
      </p:sp>
    </p:spTree>
    <p:extLst>
      <p:ext uri="{BB962C8B-B14F-4D97-AF65-F5344CB8AC3E}">
        <p14:creationId xmlns:p14="http://schemas.microsoft.com/office/powerpoint/2010/main" val="3983818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 (sala konferencyjna)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D1A13CC3892747B353EE973F0DA004" ma:contentTypeVersion="12" ma:contentTypeDescription="Utwórz nowy dokument." ma:contentTypeScope="" ma:versionID="364a21bd231bf8a5ebd2f168b623cec8">
  <xsd:schema xmlns:xsd="http://www.w3.org/2001/XMLSchema" xmlns:xs="http://www.w3.org/2001/XMLSchema" xmlns:p="http://schemas.microsoft.com/office/2006/metadata/properties" xmlns:ns2="47e3b31b-7d2c-4e73-ad08-1cd089033e99" xmlns:ns3="db3959ca-35cd-49d4-bb64-c0d7d4f8494a" targetNamespace="http://schemas.microsoft.com/office/2006/metadata/properties" ma:root="true" ma:fieldsID="764c390e63d1ad645b7d509429d9bdaa" ns2:_="" ns3:_="">
    <xsd:import namespace="47e3b31b-7d2c-4e73-ad08-1cd089033e99"/>
    <xsd:import namespace="db3959ca-35cd-49d4-bb64-c0d7d4f849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e3b31b-7d2c-4e73-ad08-1cd089033e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959ca-35cd-49d4-bb64-c0d7d4f8494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2350E-A743-4D8D-B263-853BF28B1C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e3b31b-7d2c-4e73-ad08-1cd089033e99"/>
    <ds:schemaRef ds:uri="db3959ca-35cd-49d4-bb64-c0d7d4f849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4D3876-552C-49AD-9C4C-6F70767D74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1E36E74-CF88-41C4-868F-1270B4CA8B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583</TotalTime>
  <Words>2077</Words>
  <Application>Microsoft Office PowerPoint</Application>
  <PresentationFormat>Widescreen</PresentationFormat>
  <Paragraphs>184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Jon (sala konferencyjna)</vt:lpstr>
      <vt:lpstr>ANALIZY EKONOMICZNE W PROJEKCIE</vt:lpstr>
      <vt:lpstr>Metody wykorzystywane w projektach</vt:lpstr>
      <vt:lpstr>PowerPoint Presentation</vt:lpstr>
      <vt:lpstr>ANALIZA PEST </vt:lpstr>
      <vt:lpstr>ANALIZA PEST</vt:lpstr>
      <vt:lpstr>PowerPoint Presentation</vt:lpstr>
      <vt:lpstr>PowerPoint Presentation</vt:lpstr>
      <vt:lpstr>CEL ANALIZY PEST</vt:lpstr>
      <vt:lpstr>ETAPY ANALIZY PEST</vt:lpstr>
      <vt:lpstr>ETAPY ANALIZY PEST</vt:lpstr>
      <vt:lpstr>ETAPY ANALIZY PEST</vt:lpstr>
      <vt:lpstr>PowerPoint Presentation</vt:lpstr>
      <vt:lpstr>WBS - struktura działań  ( Work Break-Down Structure)</vt:lpstr>
      <vt:lpstr>WBS JEST…</vt:lpstr>
      <vt:lpstr>PODEJŚCIA DO TWORZENIA  STRUKTURY PODZIAŁU PRAC</vt:lpstr>
      <vt:lpstr>Metody tworzenia WBS</vt:lpstr>
      <vt:lpstr>PowerPoint Presentation</vt:lpstr>
      <vt:lpstr>PowerPoint Presentation</vt:lpstr>
      <vt:lpstr>PowerPoint Presentation</vt:lpstr>
      <vt:lpstr>PowerPoint Presentation</vt:lpstr>
      <vt:lpstr>SIEĆ PERT</vt:lpstr>
      <vt:lpstr>Tworzenie diagramu sieciowego PERT</vt:lpstr>
      <vt:lpstr>Określanie czasu trwania zadań</vt:lpstr>
      <vt:lpstr>Określanie czasu trwania zadań</vt:lpstr>
      <vt:lpstr>Rozwiązywanie sieci zadań  metodą PERT</vt:lpstr>
      <vt:lpstr>Pierwszy etap - analiza "do przodu"</vt:lpstr>
      <vt:lpstr>Drugi etap - analiza "wstecz"</vt:lpstr>
      <vt:lpstr>Ścieżka krytyczna</vt:lpstr>
      <vt:lpstr>PowerPoint Presentation</vt:lpstr>
      <vt:lpstr>PowerPoint Presentation</vt:lpstr>
      <vt:lpstr>WYKRES SIECIOWY – ŹRÓDŁA INTERNETOWE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PRZYKŁADY PROJEKTÓW</dc:title>
  <dc:creator>gwsh</dc:creator>
  <cp:lastModifiedBy>Agnieszka Gierczycka</cp:lastModifiedBy>
  <cp:revision>51</cp:revision>
  <dcterms:created xsi:type="dcterms:W3CDTF">2019-01-19T00:32:49Z</dcterms:created>
  <dcterms:modified xsi:type="dcterms:W3CDTF">2025-12-13T10:05:07Z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0x010100ABD1A13CC3892747B353EE973F0DA004</vt:lpwstr>
  </property>
</Properties>
</file>