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864" r:id="rId4"/>
  </p:sldMasterIdLst>
  <p:notesMasterIdLst>
    <p:notesMasterId r:id="rId45"/>
  </p:notesMasterIdLst>
  <p:handoutMasterIdLst>
    <p:handoutMasterId r:id="rId46"/>
  </p:handoutMasterIdLst>
  <p:sldIdLst>
    <p:sldId id="256" r:id="rId5"/>
    <p:sldId id="264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57" r:id="rId14"/>
    <p:sldId id="267" r:id="rId15"/>
    <p:sldId id="295" r:id="rId16"/>
    <p:sldId id="282" r:id="rId17"/>
    <p:sldId id="283" r:id="rId18"/>
    <p:sldId id="268" r:id="rId19"/>
    <p:sldId id="296" r:id="rId20"/>
    <p:sldId id="297" r:id="rId21"/>
    <p:sldId id="258" r:id="rId22"/>
    <p:sldId id="271" r:id="rId23"/>
    <p:sldId id="262" r:id="rId24"/>
    <p:sldId id="281" r:id="rId25"/>
    <p:sldId id="273" r:id="rId26"/>
    <p:sldId id="261" r:id="rId27"/>
    <p:sldId id="263" r:id="rId28"/>
    <p:sldId id="265" r:id="rId29"/>
    <p:sldId id="266" r:id="rId30"/>
    <p:sldId id="269" r:id="rId31"/>
    <p:sldId id="270" r:id="rId32"/>
    <p:sldId id="272" r:id="rId33"/>
    <p:sldId id="284" r:id="rId34"/>
    <p:sldId id="292" r:id="rId35"/>
    <p:sldId id="293" r:id="rId36"/>
    <p:sldId id="294" r:id="rId37"/>
    <p:sldId id="285" r:id="rId38"/>
    <p:sldId id="290" r:id="rId39"/>
    <p:sldId id="286" r:id="rId40"/>
    <p:sldId id="291" r:id="rId41"/>
    <p:sldId id="287" r:id="rId42"/>
    <p:sldId id="288" r:id="rId43"/>
    <p:sldId id="289" r:id="rId44"/>
  </p:sldIdLst>
  <p:sldSz cx="12192000" cy="6858000"/>
  <p:notesSz cx="6858000" cy="9144000"/>
  <p:defaultTextStyle>
    <a:defPPr rtl="0"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2" autoAdjust="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325A4D30-A2C3-4084-A484-7038C56B85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22B2C47C-922E-4A54-AA6B-79EE2A9F5B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14C62-A4EC-4218-BAA3-97642445DAE9}" type="datetimeFigureOut">
              <a:rPr lang="pl-PL" smtClean="0"/>
              <a:t>08.10.2024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E285E0E-F57C-48A2-A43F-628D4BAAC3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1274761-77A0-46CC-B5F9-285262CEDF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C91C5-4FAB-4DB0-811F-9E3FFAC2983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2254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 noProof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FA24E-9D78-40CE-A9E9-C87DA0E8C7EB}" type="datetimeFigureOut">
              <a:rPr lang="pl-PL" noProof="0" smtClean="0"/>
              <a:t>08.10.2024</a:t>
            </a:fld>
            <a:endParaRPr lang="pl-PL" noProof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 noProof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noProof="0"/>
              <a:t>Edytuj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noProof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9FE0D-AEE6-4D0C-9FB0-DD1FC125E1EF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2131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9FE0D-AEE6-4D0C-9FB0-DD1FC125E1EF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565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Prostokąt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1069848" y="1298448"/>
            <a:ext cx="7315200" cy="3255264"/>
          </a:xfrm>
        </p:spPr>
        <p:txBody>
          <a:bodyPr rtlCol="0"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l-PL" noProof="0" smtClean="0"/>
              <a:t>Kliknij, aby edytować styl wzorca podtytułu</a:t>
            </a:r>
            <a:endParaRPr lang="pl-PL" noProof="0"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83BA73-1F79-4136-9E1E-E522969132D1}" type="datetime1">
              <a:rPr lang="pl-PL" noProof="0" smtClean="0"/>
              <a:t>08.10.2024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354660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l-PL" noProof="0" smtClean="0"/>
              <a:t>Edytuj style wzorca tekstu</a:t>
            </a:r>
          </a:p>
          <a:p>
            <a:pPr lvl="1" rtl="0"/>
            <a:r>
              <a:rPr lang="pl-PL" noProof="0" smtClean="0"/>
              <a:t>Drugi poziom</a:t>
            </a:r>
          </a:p>
          <a:p>
            <a:pPr lvl="2" rtl="0"/>
            <a:r>
              <a:rPr lang="pl-PL" noProof="0" smtClean="0"/>
              <a:t>Trzeci poziom</a:t>
            </a:r>
          </a:p>
          <a:p>
            <a:pPr lvl="3" rtl="0"/>
            <a:r>
              <a:rPr lang="pl-PL" noProof="0" smtClean="0"/>
              <a:t>Czwarty poziom</a:t>
            </a:r>
          </a:p>
          <a:p>
            <a:pPr lvl="4" rtl="0"/>
            <a:r>
              <a:rPr lang="pl-PL" noProof="0" smtClean="0"/>
              <a:t>Piąty poziom</a:t>
            </a:r>
            <a:endParaRPr lang="pl-PL" noProof="0"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942DB96-B5A5-4577-B764-60DE428F5797}" type="datetime1">
              <a:rPr lang="pl-PL" noProof="0" smtClean="0"/>
              <a:t>08.10.2024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18179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3867912" y="1298448"/>
            <a:ext cx="7315200" cy="3255264"/>
          </a:xfrm>
        </p:spPr>
        <p:txBody>
          <a:bodyPr rtlCol="0"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rtlCol="0"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 smtClean="0"/>
              <a:t>Edytuj style wzorca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596C4B-B57D-4417-B59A-77C77CA79842}" type="datetime1">
              <a:rPr lang="pl-PL" noProof="0" smtClean="0"/>
              <a:t>08.10.2024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1066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 smtClean="0"/>
              <a:t>Edytuj style wzorca tekstu</a:t>
            </a:r>
          </a:p>
          <a:p>
            <a:pPr lvl="1" rtl="0"/>
            <a:r>
              <a:rPr lang="pl-PL" noProof="0" smtClean="0"/>
              <a:t>Drugi poziom</a:t>
            </a:r>
          </a:p>
          <a:p>
            <a:pPr lvl="2" rtl="0"/>
            <a:r>
              <a:rPr lang="pl-PL" noProof="0" smtClean="0"/>
              <a:t>Trzeci poziom</a:t>
            </a:r>
          </a:p>
          <a:p>
            <a:pPr lvl="3" rtl="0"/>
            <a:r>
              <a:rPr lang="pl-PL" noProof="0" smtClean="0"/>
              <a:t>Czwarty poziom</a:t>
            </a:r>
          </a:p>
          <a:p>
            <a:pPr lvl="4" rtl="0"/>
            <a:r>
              <a:rPr lang="pl-PL" noProof="0" smtClean="0"/>
              <a:t>Piąty poziom</a:t>
            </a:r>
            <a:endParaRPr lang="pl-PL" noProof="0"/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 smtClean="0"/>
              <a:t>Edytuj style wzorca tekstu</a:t>
            </a:r>
          </a:p>
          <a:p>
            <a:pPr lvl="1" rtl="0"/>
            <a:r>
              <a:rPr lang="pl-PL" noProof="0" smtClean="0"/>
              <a:t>Drugi poziom</a:t>
            </a:r>
          </a:p>
          <a:p>
            <a:pPr lvl="2" rtl="0"/>
            <a:r>
              <a:rPr lang="pl-PL" noProof="0" smtClean="0"/>
              <a:t>Trzeci poziom</a:t>
            </a:r>
          </a:p>
          <a:p>
            <a:pPr lvl="3" rtl="0"/>
            <a:r>
              <a:rPr lang="pl-PL" noProof="0" smtClean="0"/>
              <a:t>Czwarty poziom</a:t>
            </a:r>
          </a:p>
          <a:p>
            <a:pPr lvl="4" rtl="0"/>
            <a:r>
              <a:rPr lang="pl-PL" noProof="0" smtClean="0"/>
              <a:t>Piąty poziom</a:t>
            </a:r>
            <a:endParaRPr lang="pl-PL" noProof="0"/>
          </a:p>
        </p:txBody>
      </p:sp>
      <p:sp>
        <p:nvSpPr>
          <p:cNvPr id="8" name="Data — symbol zastępczy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E27A4FF-B354-418A-8F49-EB628A86C8F5}" type="datetime1">
              <a:rPr lang="pl-PL" noProof="0" smtClean="0"/>
              <a:t>08.10.2024</a:t>
            </a:fld>
            <a:endParaRPr lang="pl-PL" noProof="0"/>
          </a:p>
        </p:txBody>
      </p:sp>
      <p:sp>
        <p:nvSpPr>
          <p:cNvPr id="9" name="Stopka — symbol zastępczy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10" name="Numer slajdu — symbol zastępczy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1377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ytuł 9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 smtClean="0"/>
              <a:t>Edytuj style wzorca tekstu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 smtClean="0"/>
              <a:t>Edytuj style wzorca tekstu</a:t>
            </a:r>
          </a:p>
          <a:p>
            <a:pPr lvl="1" rtl="0"/>
            <a:r>
              <a:rPr lang="pl-PL" noProof="0" smtClean="0"/>
              <a:t>Drugi poziom</a:t>
            </a:r>
          </a:p>
          <a:p>
            <a:pPr lvl="2" rtl="0"/>
            <a:r>
              <a:rPr lang="pl-PL" noProof="0" smtClean="0"/>
              <a:t>Trzeci poziom</a:t>
            </a:r>
          </a:p>
          <a:p>
            <a:pPr lvl="3" rtl="0"/>
            <a:r>
              <a:rPr lang="pl-PL" noProof="0" smtClean="0"/>
              <a:t>Czwarty poziom</a:t>
            </a:r>
          </a:p>
          <a:p>
            <a:pPr lvl="4" rtl="0"/>
            <a:r>
              <a:rPr lang="pl-PL" noProof="0" smtClean="0"/>
              <a:t>Piąty poziom</a:t>
            </a:r>
            <a:endParaRPr lang="pl-PL" noProof="0"/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 smtClean="0"/>
              <a:t>Edytuj style wzorca tekstu</a:t>
            </a:r>
          </a:p>
        </p:txBody>
      </p:sp>
      <p:sp>
        <p:nvSpPr>
          <p:cNvPr id="6" name="Zawartość — symbol zastępczy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 smtClean="0"/>
              <a:t>Edytuj style wzorca tekstu</a:t>
            </a:r>
          </a:p>
          <a:p>
            <a:pPr lvl="1" rtl="0"/>
            <a:r>
              <a:rPr lang="pl-PL" noProof="0" smtClean="0"/>
              <a:t>Drugi poziom</a:t>
            </a:r>
          </a:p>
          <a:p>
            <a:pPr lvl="2" rtl="0"/>
            <a:r>
              <a:rPr lang="pl-PL" noProof="0" smtClean="0"/>
              <a:t>Trzeci poziom</a:t>
            </a:r>
          </a:p>
          <a:p>
            <a:pPr lvl="3" rtl="0"/>
            <a:r>
              <a:rPr lang="pl-PL" noProof="0" smtClean="0"/>
              <a:t>Czwarty poziom</a:t>
            </a:r>
          </a:p>
          <a:p>
            <a:pPr lvl="4" rtl="0"/>
            <a:r>
              <a:rPr lang="pl-PL" noProof="0" smtClean="0"/>
              <a:t>Piąty poziom</a:t>
            </a:r>
            <a:endParaRPr lang="pl-PL" noProof="0"/>
          </a:p>
        </p:txBody>
      </p:sp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8E6442-9A68-42DE-A283-D9BCB34B3C99}" type="datetime1">
              <a:rPr lang="pl-PL" noProof="0" smtClean="0"/>
              <a:t>08.10.2024</a:t>
            </a:fld>
            <a:endParaRPr lang="pl-PL" noProof="0"/>
          </a:p>
        </p:txBody>
      </p:sp>
      <p:sp>
        <p:nvSpPr>
          <p:cNvPr id="11" name="Stopka — symbol zastępczy 10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12" name="Numer slajdu — symbol zastępczy 11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94660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F22CBB-FB22-426F-A495-53070CB112C0}" type="datetime1">
              <a:rPr lang="pl-PL" noProof="0" smtClean="0"/>
              <a:t>08.10.2024</a:t>
            </a:fld>
            <a:endParaRPr lang="pl-PL" noProof="0"/>
          </a:p>
        </p:txBody>
      </p:sp>
      <p:sp>
        <p:nvSpPr>
          <p:cNvPr id="7" name="Stopka — symbol zastępczy 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8" name="Numer slajdu — symbol zastępczy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3204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53F847-7915-420D-A2F4-53FAFB351BBB}" type="datetime1">
              <a:rPr lang="pl-PL" noProof="0" smtClean="0"/>
              <a:t>08.10.2024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164920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6032" y="1143000"/>
            <a:ext cx="2834640" cy="2377440"/>
          </a:xfrm>
        </p:spPr>
        <p:txBody>
          <a:bodyPr rtlCol="0" anchor="b">
            <a:normAutofit/>
          </a:bodyPr>
          <a:lstStyle>
            <a:lvl1pPr>
              <a:defRPr sz="3200" b="0" baseline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3906981" y="1852122"/>
            <a:ext cx="2458230" cy="2008678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 smtClean="0"/>
              <a:t>Edytuj style wzorca tekstu</a:t>
            </a:r>
          </a:p>
          <a:p>
            <a:pPr lvl="1" rtl="0"/>
            <a:r>
              <a:rPr lang="pl-PL" noProof="0" smtClean="0"/>
              <a:t>Drugi poziom</a:t>
            </a:r>
          </a:p>
          <a:p>
            <a:pPr lvl="2" rtl="0"/>
            <a:r>
              <a:rPr lang="pl-PL" noProof="0" smtClean="0"/>
              <a:t>Trzeci poziom</a:t>
            </a:r>
          </a:p>
          <a:p>
            <a:pPr lvl="3" rtl="0"/>
            <a:r>
              <a:rPr lang="pl-PL" noProof="0" smtClean="0"/>
              <a:t>Czwarty poziom</a:t>
            </a:r>
          </a:p>
          <a:p>
            <a:pPr lvl="4" rtl="0"/>
            <a:r>
              <a:rPr lang="pl-PL" noProof="0" smtClean="0"/>
              <a:t>Piąty poziom</a:t>
            </a:r>
            <a:endParaRPr lang="pl-PL" noProof="0"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 smtClean="0"/>
              <a:t>Edytuj style wzorca tekstu</a:t>
            </a:r>
          </a:p>
        </p:txBody>
      </p:sp>
      <p:sp>
        <p:nvSpPr>
          <p:cNvPr id="8" name="Data — symbol zastępczy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8FEAEE-DCFE-4054-A2B6-FE855F810477}" type="datetime1">
              <a:rPr lang="pl-PL" noProof="0" smtClean="0"/>
              <a:t>08.10.2024</a:t>
            </a:fld>
            <a:endParaRPr lang="pl-PL" noProof="0"/>
          </a:p>
        </p:txBody>
      </p:sp>
      <p:sp>
        <p:nvSpPr>
          <p:cNvPr id="9" name="Stopka — symbol zastępczy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10" name="Numer slajdu — symbol zastępczy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11" name="Zawartość — symbol zastępczy 2">
            <a:extLst>
              <a:ext uri="{FF2B5EF4-FFF2-40B4-BE49-F238E27FC236}">
                <a16:creationId xmlns:a16="http://schemas.microsoft.com/office/drawing/2014/main" id="{87B0DF2F-DAFD-4616-9E25-0C28D75BF30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91805" y="1852122"/>
            <a:ext cx="2458230" cy="2008678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 smtClean="0"/>
              <a:t>Edytuj style wzorca tekstu</a:t>
            </a:r>
          </a:p>
          <a:p>
            <a:pPr lvl="1" rtl="0"/>
            <a:r>
              <a:rPr lang="pl-PL" noProof="0" smtClean="0"/>
              <a:t>Drugi poziom</a:t>
            </a:r>
          </a:p>
          <a:p>
            <a:pPr lvl="2" rtl="0"/>
            <a:r>
              <a:rPr lang="pl-PL" noProof="0" smtClean="0"/>
              <a:t>Trzeci poziom</a:t>
            </a:r>
          </a:p>
          <a:p>
            <a:pPr lvl="3" rtl="0"/>
            <a:r>
              <a:rPr lang="pl-PL" noProof="0" smtClean="0"/>
              <a:t>Czwarty poziom</a:t>
            </a:r>
          </a:p>
          <a:p>
            <a:pPr lvl="4" rtl="0"/>
            <a:r>
              <a:rPr lang="pl-PL" noProof="0" smtClean="0"/>
              <a:t>Piąty poziom</a:t>
            </a:r>
            <a:endParaRPr lang="pl-PL" noProof="0"/>
          </a:p>
        </p:txBody>
      </p:sp>
      <p:sp>
        <p:nvSpPr>
          <p:cNvPr id="12" name="Zawartość — symbol zastępczy 2">
            <a:extLst>
              <a:ext uri="{FF2B5EF4-FFF2-40B4-BE49-F238E27FC236}">
                <a16:creationId xmlns:a16="http://schemas.microsoft.com/office/drawing/2014/main" id="{336DA0F9-D851-437C-A45B-EC125A3D3DB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076629" y="1852122"/>
            <a:ext cx="2458230" cy="2008678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 smtClean="0"/>
              <a:t>Edytuj style wzorca tekstu</a:t>
            </a:r>
          </a:p>
          <a:p>
            <a:pPr lvl="1" rtl="0"/>
            <a:r>
              <a:rPr lang="pl-PL" noProof="0" smtClean="0"/>
              <a:t>Drugi poziom</a:t>
            </a:r>
          </a:p>
          <a:p>
            <a:pPr lvl="2" rtl="0"/>
            <a:r>
              <a:rPr lang="pl-PL" noProof="0" smtClean="0"/>
              <a:t>Trzeci poziom</a:t>
            </a:r>
          </a:p>
          <a:p>
            <a:pPr lvl="3" rtl="0"/>
            <a:r>
              <a:rPr lang="pl-PL" noProof="0" smtClean="0"/>
              <a:t>Czwarty poziom</a:t>
            </a:r>
          </a:p>
          <a:p>
            <a:pPr lvl="4" rtl="0"/>
            <a:r>
              <a:rPr lang="pl-PL" noProof="0" smtClean="0"/>
              <a:t>Piąty poziom</a:t>
            </a:r>
            <a:endParaRPr lang="pl-PL" noProof="0"/>
          </a:p>
        </p:txBody>
      </p:sp>
      <p:sp>
        <p:nvSpPr>
          <p:cNvPr id="6" name="Tekst — symbol zastępczy 5">
            <a:extLst>
              <a:ext uri="{FF2B5EF4-FFF2-40B4-BE49-F238E27FC236}">
                <a16:creationId xmlns:a16="http://schemas.microsoft.com/office/drawing/2014/main" id="{0FF0BA98-3AB4-4D88-B1C2-6279BCACF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7792" y="3971924"/>
            <a:ext cx="2477419" cy="8032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pl-PL" noProof="0" smtClean="0"/>
              <a:t>Edytuj style wzorca tekstu</a:t>
            </a:r>
          </a:p>
        </p:txBody>
      </p:sp>
      <p:sp>
        <p:nvSpPr>
          <p:cNvPr id="13" name="Tekst — symbol zastępczy 5">
            <a:extLst>
              <a:ext uri="{FF2B5EF4-FFF2-40B4-BE49-F238E27FC236}">
                <a16:creationId xmlns:a16="http://schemas.microsoft.com/office/drawing/2014/main" id="{D9DEF72B-B924-4A0D-8C83-3B370632C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2616" y="3971925"/>
            <a:ext cx="2477419" cy="8032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pl-PL" noProof="0" smtClean="0"/>
              <a:t>Edytuj style wzorca tekstu</a:t>
            </a:r>
          </a:p>
        </p:txBody>
      </p:sp>
      <p:sp>
        <p:nvSpPr>
          <p:cNvPr id="14" name="Tekst — symbol zastępczy 5">
            <a:extLst>
              <a:ext uri="{FF2B5EF4-FFF2-40B4-BE49-F238E27FC236}">
                <a16:creationId xmlns:a16="http://schemas.microsoft.com/office/drawing/2014/main" id="{E9D30C54-E9E8-4300-8DA4-352DB3A71A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70240" y="3971924"/>
            <a:ext cx="2458230" cy="8032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pl-PL" noProof="0" smtClean="0"/>
              <a:t>Edytuj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075080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6032" y="1143000"/>
            <a:ext cx="2834640" cy="237744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Obraz — symbol zastępczy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l-PL" noProof="0" smtClean="0"/>
              <a:t>Kliknij ikonę, aby dodać obraz</a:t>
            </a:r>
            <a:endParaRPr lang="pl-PL" noProof="0"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 smtClean="0"/>
              <a:t>Edytuj style wzorca tekstu</a:t>
            </a:r>
          </a:p>
        </p:txBody>
      </p:sp>
      <p:sp>
        <p:nvSpPr>
          <p:cNvPr id="8" name="Data — symbol zastępczy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EBAE41-56B8-4BB5-9241-FE947570EFF8}" type="datetime1">
              <a:rPr lang="pl-PL" noProof="0" smtClean="0"/>
              <a:t>08.10.2024</a:t>
            </a:fld>
            <a:endParaRPr lang="pl-PL" noProof="0"/>
          </a:p>
        </p:txBody>
      </p:sp>
      <p:sp>
        <p:nvSpPr>
          <p:cNvPr id="9" name="Stopka — symbol zastępczy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10" name="Numer slajdu — symbol zastępczy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5941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pl-PL" noProof="0" smtClean="0"/>
              <a:t>Edytuj style wzorca tekstu</a:t>
            </a:r>
          </a:p>
          <a:p>
            <a:pPr lvl="1" rtl="0"/>
            <a:r>
              <a:rPr lang="pl-PL" noProof="0" smtClean="0"/>
              <a:t>Drugi poziom</a:t>
            </a:r>
          </a:p>
          <a:p>
            <a:pPr lvl="2" rtl="0"/>
            <a:r>
              <a:rPr lang="pl-PL" noProof="0" smtClean="0"/>
              <a:t>Trzeci poziom</a:t>
            </a:r>
          </a:p>
          <a:p>
            <a:pPr lvl="3" rtl="0"/>
            <a:r>
              <a:rPr lang="pl-PL" noProof="0" smtClean="0"/>
              <a:t>Czwarty poziom</a:t>
            </a:r>
          </a:p>
          <a:p>
            <a:pPr lvl="4" rtl="0"/>
            <a:r>
              <a:rPr lang="pl-PL" noProof="0" smtClean="0"/>
              <a:t>Piąty poziom</a:t>
            </a:r>
            <a:endParaRPr lang="pl-PL" noProof="0"/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945378-0F1F-4B48-953E-1D924FD4FBEE}" type="datetime1">
              <a:rPr lang="pl-PL" noProof="0" smtClean="0"/>
              <a:t>08.10.2024</a:t>
            </a:fld>
            <a:endParaRPr lang="pl-PL" noProof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94397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 hasCustomPrompt="1"/>
          </p:nvPr>
        </p:nvSpPr>
        <p:spPr>
          <a:xfrm>
            <a:off x="381000" y="990600"/>
            <a:ext cx="2819400" cy="4953000"/>
          </a:xfrm>
        </p:spPr>
        <p:txBody>
          <a:bodyPr vert="eaVert"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rtlCol="0" anchor="t"/>
          <a:lstStyle/>
          <a:p>
            <a:pPr lvl="0" rtl="0"/>
            <a:r>
              <a:rPr lang="pl-PL" noProof="0" smtClean="0"/>
              <a:t>Edytuj style wzorca tekstu</a:t>
            </a:r>
          </a:p>
          <a:p>
            <a:pPr lvl="1" rtl="0"/>
            <a:r>
              <a:rPr lang="pl-PL" noProof="0" smtClean="0"/>
              <a:t>Drugi poziom</a:t>
            </a:r>
          </a:p>
          <a:p>
            <a:pPr lvl="2" rtl="0"/>
            <a:r>
              <a:rPr lang="pl-PL" noProof="0" smtClean="0"/>
              <a:t>Trzeci poziom</a:t>
            </a:r>
          </a:p>
          <a:p>
            <a:pPr lvl="3" rtl="0"/>
            <a:r>
              <a:rPr lang="pl-PL" noProof="0" smtClean="0"/>
              <a:t>Czwarty poziom</a:t>
            </a:r>
          </a:p>
          <a:p>
            <a:pPr lvl="4" rtl="0"/>
            <a:r>
              <a:rPr lang="pl-PL" noProof="0" smtClean="0"/>
              <a:t>Piąty poziom</a:t>
            </a:r>
            <a:endParaRPr lang="pl-PL" noProof="0"/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54A613-B763-4FE5-92D4-DF3F2A0E9EB4}" type="datetime1">
              <a:rPr lang="pl-PL" noProof="0" smtClean="0"/>
              <a:t>08.10.2024</a:t>
            </a:fld>
            <a:endParaRPr lang="pl-PL" noProof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19719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38" name="Prostokąt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l"/>
              <a:t>Edytuj style wzorca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fld id="{E46343E4-AF9B-4849-820A-3A470B2F7367}" type="datetime1">
              <a:rPr lang="pl-PL" smtClean="0"/>
              <a:t>08.10.2024</a:t>
            </a:fld>
            <a:endParaRPr lang="en-US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pPr rtl="0"/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93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Prostokąt 9">
            <a:extLst>
              <a:ext uri="{FF2B5EF4-FFF2-40B4-BE49-F238E27FC236}">
                <a16:creationId xmlns:a16="http://schemas.microsoft.com/office/drawing/2014/main" id="{8869841E-71E7-4F51-8E6F-5E8A5E3756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/>
          </a:p>
        </p:txBody>
      </p:sp>
      <p:pic>
        <p:nvPicPr>
          <p:cNvPr id="5" name="Obraz 4" descr="Plany">
            <a:extLst>
              <a:ext uri="{FF2B5EF4-FFF2-40B4-BE49-F238E27FC236}">
                <a16:creationId xmlns:a16="http://schemas.microsoft.com/office/drawing/2014/main" id="{A3A2E0DA-DA21-447D-AD1F-3DB915DD051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12" name="Prostokąt 11">
            <a:extLst>
              <a:ext uri="{FF2B5EF4-FFF2-40B4-BE49-F238E27FC236}">
                <a16:creationId xmlns:a16="http://schemas.microsoft.com/office/drawing/2014/main" id="{594B067E-A161-4B29-A8FA-FEEB194495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D6CA50C-1A88-4B3F-A34F-FE199F420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697" y="1298448"/>
            <a:ext cx="4277710" cy="3255264"/>
          </a:xfrm>
        </p:spPr>
        <p:txBody>
          <a:bodyPr rtlCol="0">
            <a:normAutofit/>
          </a:bodyPr>
          <a:lstStyle/>
          <a:p>
            <a:pPr rtl="0"/>
            <a:r>
              <a:rPr lang="pl-PL" sz="4800" b="1" dirty="0" smtClean="0"/>
              <a:t>ZARZĄDZANIE PROJEKTAMI</a:t>
            </a:r>
            <a:endParaRPr lang="pl-PL" sz="4800" b="1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9CC2D51-705E-403A-AC0E-9157DC551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6017" y="5090161"/>
            <a:ext cx="3685070" cy="692316"/>
          </a:xfrm>
        </p:spPr>
        <p:txBody>
          <a:bodyPr rtlCol="0">
            <a:normAutofit lnSpcReduction="10000"/>
          </a:bodyPr>
          <a:lstStyle/>
          <a:p>
            <a:pPr algn="ctr" rtl="0"/>
            <a:r>
              <a:rPr lang="pl-PL" dirty="0" smtClean="0"/>
              <a:t>WSTĘP DO ZARZADZANIA PROJEKTAMI</a:t>
            </a:r>
            <a:endParaRPr lang="pl-PL" dirty="0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C20C741F-0826-4AB6-A92E-AB4EB50216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4582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b="1" dirty="0" smtClean="0"/>
              <a:t>PROJEKT  TO PROBLEM PRZEZNACZONY DO ROZWIĄZANIA.</a:t>
            </a:r>
            <a:endParaRPr lang="pl-PL" b="1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3541986" y="4939861"/>
            <a:ext cx="8166538" cy="1734207"/>
          </a:xfrm>
        </p:spPr>
        <p:txBody>
          <a:bodyPr/>
          <a:lstStyle/>
          <a:p>
            <a:r>
              <a:rPr lang="pl-PL" i="1" dirty="0" smtClean="0"/>
              <a:t>Współczesne </a:t>
            </a:r>
            <a:r>
              <a:rPr lang="pl-PL" i="1" dirty="0"/>
              <a:t>przedsiębiorstwa i instytucje publiczne dążą do optymalizacji procesów, obniżki kosztów funkcjonowania oraz takich zmian organizacyjnych, które w efekcie prowadzonej reorganizacji prowadzą do usprawnienia ich działania.</a:t>
            </a:r>
          </a:p>
        </p:txBody>
      </p:sp>
    </p:spTree>
    <p:extLst>
      <p:ext uri="{BB962C8B-B14F-4D97-AF65-F5344CB8AC3E}">
        <p14:creationId xmlns:p14="http://schemas.microsoft.com/office/powerpoint/2010/main" val="311040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smtClean="0"/>
              <a:t>OTOCZENIE PRZEDSIĘBIORSTWA</a:t>
            </a:r>
            <a:endParaRPr lang="pl-PL" b="1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3647090" y="4672584"/>
            <a:ext cx="8050924" cy="1728216"/>
          </a:xfrm>
        </p:spPr>
        <p:txBody>
          <a:bodyPr>
            <a:normAutofit/>
          </a:bodyPr>
          <a:lstStyle/>
          <a:p>
            <a:r>
              <a:rPr lang="pl-PL" sz="2400" i="1" dirty="0"/>
              <a:t>Zbiór zewnętrznych „aktorów” (podmiotów) i sił (czynników), które oddziałują na przedsiębiorstwo, co do możliwości jego rozwoju, utrzymania się na rynku, zwiększenia konkurencyjności itp.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2467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smtClean="0"/>
              <a:t>BADANIE RYNKU / OTOCZENIA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2800" b="1" dirty="0"/>
              <a:t>Konieczność badania otoczenia przedsiębiorstwa</a:t>
            </a:r>
            <a:r>
              <a:rPr lang="pl-PL" sz="2800" dirty="0"/>
              <a:t>: </a:t>
            </a:r>
            <a:endParaRPr lang="pl-PL" sz="2800" dirty="0" smtClean="0"/>
          </a:p>
          <a:p>
            <a:pPr marL="0" indent="0" algn="ctr">
              <a:buNone/>
            </a:pPr>
            <a:endParaRPr lang="pl-PL" sz="2800" dirty="0" smtClean="0"/>
          </a:p>
          <a:p>
            <a:r>
              <a:rPr lang="pl-PL" sz="2800" dirty="0" smtClean="0"/>
              <a:t>ze </a:t>
            </a:r>
            <a:r>
              <a:rPr lang="pl-PL" sz="2800" dirty="0"/>
              <a:t>względu na zmienność otoczenia, </a:t>
            </a:r>
            <a:endParaRPr lang="pl-PL" sz="2800" dirty="0" smtClean="0"/>
          </a:p>
          <a:p>
            <a:r>
              <a:rPr lang="pl-PL" sz="2800" dirty="0" smtClean="0"/>
              <a:t>ze </a:t>
            </a:r>
            <a:r>
              <a:rPr lang="pl-PL" sz="2800" dirty="0"/>
              <a:t>względu na nowe możliwości, </a:t>
            </a:r>
            <a:endParaRPr lang="pl-PL" sz="2800" dirty="0" smtClean="0"/>
          </a:p>
          <a:p>
            <a:r>
              <a:rPr lang="pl-PL" sz="2800" dirty="0" smtClean="0"/>
              <a:t>ze </a:t>
            </a:r>
            <a:r>
              <a:rPr lang="pl-PL" sz="2800" dirty="0"/>
              <a:t>względu na nowe zagrożenia, </a:t>
            </a:r>
            <a:endParaRPr lang="pl-PL" sz="2800" dirty="0" smtClean="0"/>
          </a:p>
          <a:p>
            <a:r>
              <a:rPr lang="pl-PL" sz="2800" dirty="0" smtClean="0"/>
              <a:t>ze </a:t>
            </a:r>
            <a:r>
              <a:rPr lang="pl-PL" sz="2800" dirty="0"/>
              <a:t>względu na nowe wyzwania, </a:t>
            </a:r>
            <a:endParaRPr lang="pl-PL" sz="2800" dirty="0" smtClean="0"/>
          </a:p>
          <a:p>
            <a:r>
              <a:rPr lang="pl-PL" sz="2800" dirty="0" smtClean="0"/>
              <a:t>ze </a:t>
            </a:r>
            <a:r>
              <a:rPr lang="pl-PL" sz="2800" dirty="0"/>
              <a:t>względu na nowe potrzeby.</a:t>
            </a:r>
          </a:p>
        </p:txBody>
      </p:sp>
    </p:spTree>
    <p:extLst>
      <p:ext uri="{BB962C8B-B14F-4D97-AF65-F5344CB8AC3E}">
        <p14:creationId xmlns:p14="http://schemas.microsoft.com/office/powerpoint/2010/main" val="283009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b="1" dirty="0" smtClean="0"/>
              <a:t>OTOCZENIE </a:t>
            </a:r>
            <a:br>
              <a:rPr lang="pl-PL" sz="4000" b="1" dirty="0" smtClean="0"/>
            </a:br>
            <a:r>
              <a:rPr lang="pl-PL" sz="4000" b="1" dirty="0" smtClean="0"/>
              <a:t>           PB.</a:t>
            </a:r>
            <a:endParaRPr lang="pl-PL" sz="4000" b="1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3489433" y="357352"/>
            <a:ext cx="4151587" cy="1473954"/>
          </a:xfrm>
        </p:spPr>
        <p:txBody>
          <a:bodyPr>
            <a:noAutofit/>
          </a:bodyPr>
          <a:lstStyle/>
          <a:p>
            <a:pPr algn="ctr"/>
            <a:r>
              <a:rPr lang="pl-PL" sz="2800" dirty="0" smtClean="0"/>
              <a:t>MIKROOTOCZENIE</a:t>
            </a:r>
          </a:p>
          <a:p>
            <a:pPr algn="ctr"/>
            <a:r>
              <a:rPr lang="pl-PL" sz="2800" dirty="0" smtClean="0"/>
              <a:t> / BLIŻSZE /PODMIOTOWE</a:t>
            </a:r>
            <a:endParaRPr lang="pl-PL" sz="2800" dirty="0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3710152" y="1930935"/>
            <a:ext cx="3783724" cy="4680071"/>
          </a:xfrm>
        </p:spPr>
        <p:txBody>
          <a:bodyPr>
            <a:normAutofit/>
          </a:bodyPr>
          <a:lstStyle/>
          <a:p>
            <a:r>
              <a:rPr lang="pl-PL" sz="2400" dirty="0"/>
              <a:t>w </a:t>
            </a:r>
            <a:r>
              <a:rPr lang="pl-PL" sz="2400" dirty="0" smtClean="0"/>
              <a:t>którym przedsiębiorstwo działa </a:t>
            </a:r>
            <a:r>
              <a:rPr lang="pl-PL" sz="2400" dirty="0"/>
              <a:t>i na które </a:t>
            </a:r>
            <a:r>
              <a:rPr lang="pl-PL" sz="2400" u="sng" dirty="0" smtClean="0"/>
              <a:t>może wpływać</a:t>
            </a:r>
            <a:r>
              <a:rPr lang="pl-PL" sz="2400" dirty="0" smtClean="0"/>
              <a:t>, kształtować wedle własnych potrzeb </a:t>
            </a:r>
          </a:p>
          <a:p>
            <a:r>
              <a:rPr lang="pl-PL" sz="2400" dirty="0" smtClean="0"/>
              <a:t>obejmuje </a:t>
            </a:r>
            <a:r>
              <a:rPr lang="pl-PL" sz="2400" dirty="0"/>
              <a:t>podmioty z </a:t>
            </a:r>
            <a:r>
              <a:rPr lang="pl-PL" sz="2400" dirty="0" smtClean="0"/>
              <a:t>bezpośredniego </a:t>
            </a:r>
            <a:r>
              <a:rPr lang="pl-PL" sz="2400" dirty="0"/>
              <a:t>otoczenia firmy </a:t>
            </a:r>
            <a:r>
              <a:rPr lang="pl-PL" sz="2400" dirty="0" smtClean="0"/>
              <a:t>wpływające </a:t>
            </a:r>
            <a:r>
              <a:rPr lang="pl-PL" sz="2400" dirty="0"/>
              <a:t>na jej </a:t>
            </a:r>
            <a:r>
              <a:rPr lang="pl-PL" sz="2400" dirty="0" smtClean="0"/>
              <a:t>możliwości obsługi </a:t>
            </a:r>
            <a:r>
              <a:rPr lang="pl-PL" sz="2400" dirty="0"/>
              <a:t>rynków.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7493876" y="357352"/>
            <a:ext cx="4193627" cy="1479405"/>
          </a:xfrm>
        </p:spPr>
        <p:txBody>
          <a:bodyPr>
            <a:noAutofit/>
          </a:bodyPr>
          <a:lstStyle/>
          <a:p>
            <a:r>
              <a:rPr lang="pl-PL" sz="2800" dirty="0" smtClean="0"/>
              <a:t>MAKROOTOCZENIE DALSZE / PRZEDMIOTOWE</a:t>
            </a:r>
            <a:endParaRPr lang="pl-PL" sz="2800" dirty="0"/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7818463" y="1930935"/>
            <a:ext cx="3474720" cy="4553947"/>
          </a:xfrm>
        </p:spPr>
        <p:txBody>
          <a:bodyPr>
            <a:normAutofit/>
          </a:bodyPr>
          <a:lstStyle/>
          <a:p>
            <a:r>
              <a:rPr lang="pl-PL" sz="2400" dirty="0" smtClean="0"/>
              <a:t>obejmuje elementy, na </a:t>
            </a:r>
            <a:r>
              <a:rPr lang="pl-PL" sz="2400" dirty="0"/>
              <a:t>które pojedyncze </a:t>
            </a:r>
            <a:r>
              <a:rPr lang="pl-PL" sz="2400" dirty="0" smtClean="0"/>
              <a:t>przedsiębiorstwo </a:t>
            </a:r>
            <a:r>
              <a:rPr lang="pl-PL" sz="2400" u="sng" dirty="0"/>
              <a:t>nie ma </a:t>
            </a:r>
            <a:r>
              <a:rPr lang="pl-PL" sz="2400" u="sng" dirty="0" smtClean="0"/>
              <a:t>wpływu </a:t>
            </a:r>
            <a:r>
              <a:rPr lang="pl-PL" sz="2400" dirty="0"/>
              <a:t>i musi </a:t>
            </a:r>
            <a:r>
              <a:rPr lang="pl-PL" sz="2400" dirty="0" smtClean="0"/>
              <a:t>się </a:t>
            </a:r>
            <a:r>
              <a:rPr lang="pl-PL" sz="2400" dirty="0"/>
              <a:t>do </a:t>
            </a:r>
            <a:r>
              <a:rPr lang="pl-PL" sz="2400" dirty="0" smtClean="0"/>
              <a:t>nich dostosowywać</a:t>
            </a:r>
            <a:r>
              <a:rPr lang="pl-PL" sz="2400" dirty="0"/>
              <a:t>; </a:t>
            </a:r>
            <a:endParaRPr lang="pl-PL" sz="2400" dirty="0" smtClean="0"/>
          </a:p>
          <a:p>
            <a:r>
              <a:rPr lang="pl-PL" sz="2400" dirty="0" smtClean="0"/>
              <a:t>obejmuje duże siły społeczne oddziałujące </a:t>
            </a:r>
            <a:r>
              <a:rPr lang="pl-PL" sz="2400" dirty="0"/>
              <a:t>na wszystkie podmioty z mikrootoczenia,</a:t>
            </a:r>
          </a:p>
        </p:txBody>
      </p:sp>
    </p:spTree>
    <p:extLst>
      <p:ext uri="{BB962C8B-B14F-4D97-AF65-F5344CB8AC3E}">
        <p14:creationId xmlns:p14="http://schemas.microsoft.com/office/powerpoint/2010/main" val="106795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OTOCZENIE </a:t>
            </a:r>
            <a:br>
              <a:rPr lang="pl-PL" b="1" dirty="0"/>
            </a:br>
            <a:r>
              <a:rPr lang="pl-PL" b="1" dirty="0"/>
              <a:t>           PB.</a:t>
            </a:r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3468414" y="73572"/>
            <a:ext cx="3474720" cy="654148"/>
          </a:xfrm>
        </p:spPr>
        <p:txBody>
          <a:bodyPr>
            <a:normAutofit/>
          </a:bodyPr>
          <a:lstStyle/>
          <a:p>
            <a:pPr algn="ctr"/>
            <a:r>
              <a:rPr lang="pl-PL" sz="2800" dirty="0"/>
              <a:t>BLIŻSZE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3468414" y="727721"/>
            <a:ext cx="4067503" cy="5956858"/>
          </a:xfrm>
        </p:spPr>
        <p:txBody>
          <a:bodyPr/>
          <a:lstStyle/>
          <a:p>
            <a:r>
              <a:rPr lang="pl-PL" b="1" dirty="0"/>
              <a:t>D</a:t>
            </a:r>
            <a:r>
              <a:rPr lang="pl-PL" b="1" dirty="0" smtClean="0"/>
              <a:t>ostawcy</a:t>
            </a:r>
            <a:r>
              <a:rPr lang="pl-PL" dirty="0" smtClean="0"/>
              <a:t> </a:t>
            </a:r>
            <a:r>
              <a:rPr lang="pl-PL" dirty="0"/>
              <a:t>– </a:t>
            </a:r>
            <a:r>
              <a:rPr lang="pl-PL" dirty="0" smtClean="0"/>
              <a:t>przedsiębiorstwa bądź </a:t>
            </a:r>
            <a:r>
              <a:rPr lang="pl-PL" dirty="0"/>
              <a:t>osoby fizyczne </a:t>
            </a:r>
            <a:r>
              <a:rPr lang="pl-PL" dirty="0" smtClean="0"/>
              <a:t>dostarczające </a:t>
            </a:r>
            <a:r>
              <a:rPr lang="pl-PL" dirty="0"/>
              <a:t>zasobów potrzebnych firmie do realizacji prowadzonej </a:t>
            </a:r>
            <a:r>
              <a:rPr lang="pl-PL" dirty="0" smtClean="0"/>
              <a:t>działalności</a:t>
            </a:r>
            <a:r>
              <a:rPr lang="pl-PL" dirty="0"/>
              <a:t>, </a:t>
            </a:r>
            <a:endParaRPr lang="pl-PL" dirty="0" smtClean="0"/>
          </a:p>
          <a:p>
            <a:r>
              <a:rPr lang="pl-PL" b="1" dirty="0" smtClean="0"/>
              <a:t>Nabywcy / klienci </a:t>
            </a:r>
            <a:r>
              <a:rPr lang="pl-PL" dirty="0"/>
              <a:t>– ostateczni odbiorcy oferty </a:t>
            </a:r>
            <a:r>
              <a:rPr lang="pl-PL" dirty="0" smtClean="0"/>
              <a:t>produktowej / usługowej przedsiębiorstwa,</a:t>
            </a:r>
          </a:p>
          <a:p>
            <a:r>
              <a:rPr lang="pl-PL" b="1" dirty="0"/>
              <a:t>P</a:t>
            </a:r>
            <a:r>
              <a:rPr lang="pl-PL" b="1" dirty="0" smtClean="0"/>
              <a:t>ośrednicy</a:t>
            </a:r>
            <a:r>
              <a:rPr lang="pl-PL" dirty="0" smtClean="0"/>
              <a:t> </a:t>
            </a:r>
            <a:r>
              <a:rPr lang="pl-PL" dirty="0"/>
              <a:t>– firmy </a:t>
            </a:r>
            <a:r>
              <a:rPr lang="pl-PL" dirty="0" smtClean="0"/>
              <a:t>wspierające działalność przedsiębiorstwa</a:t>
            </a:r>
            <a:r>
              <a:rPr lang="pl-PL" dirty="0"/>
              <a:t>, </a:t>
            </a:r>
            <a:r>
              <a:rPr lang="pl-PL" dirty="0" smtClean="0"/>
              <a:t>głównie </a:t>
            </a:r>
            <a:r>
              <a:rPr lang="pl-PL" dirty="0"/>
              <a:t>w promocji, dystrybucji i </a:t>
            </a:r>
            <a:r>
              <a:rPr lang="pl-PL" dirty="0" smtClean="0"/>
              <a:t>sprzedaży </a:t>
            </a:r>
            <a:r>
              <a:rPr lang="pl-PL" dirty="0"/>
              <a:t>produktów finalnym </a:t>
            </a:r>
            <a:r>
              <a:rPr lang="pl-PL" dirty="0" smtClean="0"/>
              <a:t>odbiorcom</a:t>
            </a:r>
          </a:p>
          <a:p>
            <a:r>
              <a:rPr lang="pl-PL" b="1" dirty="0" smtClean="0"/>
              <a:t>Konkurenci</a:t>
            </a:r>
            <a:r>
              <a:rPr lang="pl-PL" dirty="0" smtClean="0"/>
              <a:t> </a:t>
            </a:r>
            <a:r>
              <a:rPr lang="pl-PL" dirty="0"/>
              <a:t>– wszystkie firmy </a:t>
            </a:r>
            <a:r>
              <a:rPr lang="pl-PL" dirty="0" smtClean="0"/>
              <a:t>wytwarzające </a:t>
            </a:r>
            <a:r>
              <a:rPr lang="pl-PL" dirty="0"/>
              <a:t>te same produkty albo substytuty lub </a:t>
            </a:r>
            <a:r>
              <a:rPr lang="pl-PL" dirty="0" smtClean="0"/>
              <a:t>działające </a:t>
            </a:r>
            <a:r>
              <a:rPr lang="pl-PL" dirty="0"/>
              <a:t>w tym samym segmencie rynku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8259898" y="120673"/>
            <a:ext cx="3474720" cy="607047"/>
          </a:xfrm>
        </p:spPr>
        <p:txBody>
          <a:bodyPr>
            <a:normAutofit/>
          </a:bodyPr>
          <a:lstStyle/>
          <a:p>
            <a:pPr algn="ctr"/>
            <a:r>
              <a:rPr lang="pl-PL" sz="2800" dirty="0"/>
              <a:t>DALSZE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7923565" y="1208690"/>
            <a:ext cx="3916155" cy="5349765"/>
          </a:xfrm>
        </p:spPr>
        <p:txBody>
          <a:bodyPr>
            <a:normAutofit/>
          </a:bodyPr>
          <a:lstStyle/>
          <a:p>
            <a:r>
              <a:rPr lang="pl-PL" sz="2400" dirty="0"/>
              <a:t>czynniki demograficzne</a:t>
            </a:r>
            <a:r>
              <a:rPr lang="pl-PL" sz="2400" dirty="0" smtClean="0"/>
              <a:t>,</a:t>
            </a:r>
          </a:p>
          <a:p>
            <a:r>
              <a:rPr lang="pl-PL" sz="2400" dirty="0" smtClean="0"/>
              <a:t>czynniki </a:t>
            </a:r>
            <a:r>
              <a:rPr lang="pl-PL" sz="2400" dirty="0"/>
              <a:t>ekonomiczne, </a:t>
            </a:r>
            <a:endParaRPr lang="pl-PL" sz="2400" dirty="0" smtClean="0"/>
          </a:p>
          <a:p>
            <a:r>
              <a:rPr lang="pl-PL" sz="2400" dirty="0" smtClean="0"/>
              <a:t>czynniki </a:t>
            </a:r>
            <a:r>
              <a:rPr lang="pl-PL" sz="2400" dirty="0"/>
              <a:t>naturalne, </a:t>
            </a:r>
            <a:endParaRPr lang="pl-PL" sz="2400" dirty="0" smtClean="0"/>
          </a:p>
          <a:p>
            <a:r>
              <a:rPr lang="pl-PL" sz="2400" dirty="0" smtClean="0"/>
              <a:t>czynniki techniczno-technologiczne </a:t>
            </a:r>
          </a:p>
          <a:p>
            <a:r>
              <a:rPr lang="pl-PL" sz="2400" dirty="0" smtClean="0"/>
              <a:t>czynniki </a:t>
            </a:r>
            <a:r>
              <a:rPr lang="pl-PL" sz="2400" dirty="0"/>
              <a:t>polityczno-prawne, </a:t>
            </a:r>
            <a:endParaRPr lang="pl-PL" sz="2400" dirty="0" smtClean="0"/>
          </a:p>
          <a:p>
            <a:r>
              <a:rPr lang="pl-PL" sz="2400" dirty="0" smtClean="0"/>
              <a:t>czynniki </a:t>
            </a:r>
            <a:r>
              <a:rPr lang="pl-PL" sz="2400" dirty="0"/>
              <a:t>kulturowe, </a:t>
            </a:r>
            <a:r>
              <a:rPr lang="pl-PL" sz="2400" dirty="0" smtClean="0"/>
              <a:t>społeczne</a:t>
            </a:r>
            <a:r>
              <a:rPr lang="pl-PL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680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b="1" dirty="0" smtClean="0"/>
              <a:t>OTOCZENIE DALSZE</a:t>
            </a:r>
            <a:endParaRPr lang="pl-PL" sz="4000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36579" y="864107"/>
            <a:ext cx="7935311" cy="5820471"/>
          </a:xfrm>
        </p:spPr>
        <p:txBody>
          <a:bodyPr>
            <a:normAutofit/>
          </a:bodyPr>
          <a:lstStyle/>
          <a:p>
            <a:pPr algn="ctr"/>
            <a:r>
              <a:rPr lang="pl-PL" sz="2400" u="sng" dirty="0" smtClean="0"/>
              <a:t>Prawidłowości </a:t>
            </a:r>
            <a:r>
              <a:rPr lang="pl-PL" sz="2400" u="sng" dirty="0"/>
              <a:t>w otoczeniu dalszym</a:t>
            </a:r>
            <a:r>
              <a:rPr lang="pl-PL" sz="2400" dirty="0"/>
              <a:t>: </a:t>
            </a:r>
            <a:endParaRPr lang="pl-PL" sz="2400" dirty="0" smtClean="0"/>
          </a:p>
          <a:p>
            <a:pPr marL="0" indent="0" algn="ctr">
              <a:buNone/>
            </a:pPr>
            <a:endParaRPr lang="pl-PL" sz="2400" dirty="0" smtClean="0"/>
          </a:p>
          <a:p>
            <a:r>
              <a:rPr lang="pl-PL" sz="2400" dirty="0" smtClean="0"/>
              <a:t>czynniki </a:t>
            </a:r>
            <a:r>
              <a:rPr lang="pl-PL" sz="2400" dirty="0"/>
              <a:t>otoczenia demograficznego, kulturowego i ekonomicznego </a:t>
            </a:r>
            <a:r>
              <a:rPr lang="pl-PL" sz="2400" dirty="0" smtClean="0"/>
              <a:t>wpływają </a:t>
            </a:r>
            <a:r>
              <a:rPr lang="pl-PL" sz="2400" dirty="0"/>
              <a:t>na </a:t>
            </a:r>
            <a:r>
              <a:rPr lang="pl-PL" sz="2400" dirty="0" smtClean="0"/>
              <a:t>postępowanie </a:t>
            </a:r>
            <a:r>
              <a:rPr lang="pl-PL" sz="2400" dirty="0"/>
              <a:t>konsumentów na </a:t>
            </a:r>
            <a:r>
              <a:rPr lang="pl-PL" sz="2400" dirty="0" smtClean="0"/>
              <a:t>rynku; </a:t>
            </a:r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dirty="0" smtClean="0"/>
              <a:t>czynniki </a:t>
            </a:r>
            <a:r>
              <a:rPr lang="pl-PL" sz="2400" dirty="0"/>
              <a:t>otoczenia </a:t>
            </a:r>
            <a:r>
              <a:rPr lang="pl-PL" sz="2400" dirty="0" smtClean="0"/>
              <a:t>polityczno-prawnego, postęp </a:t>
            </a:r>
            <a:r>
              <a:rPr lang="pl-PL" sz="2400" dirty="0"/>
              <a:t>techniczno-technologiczny i konkurencja </a:t>
            </a:r>
            <a:r>
              <a:rPr lang="pl-PL" sz="2400" dirty="0" smtClean="0"/>
              <a:t>wpływają </a:t>
            </a:r>
            <a:r>
              <a:rPr lang="pl-PL" sz="2400" dirty="0"/>
              <a:t>na </a:t>
            </a:r>
            <a:r>
              <a:rPr lang="pl-PL" sz="2400" dirty="0" smtClean="0"/>
              <a:t>postępowanie przedsiębiorstwa </a:t>
            </a:r>
            <a:r>
              <a:rPr lang="pl-PL" sz="2400" dirty="0"/>
              <a:t>na </a:t>
            </a:r>
            <a:r>
              <a:rPr lang="pl-PL" sz="2400" dirty="0" smtClean="0"/>
              <a:t>rynku; </a:t>
            </a:r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dirty="0" smtClean="0"/>
              <a:t>czynniki </a:t>
            </a:r>
            <a:r>
              <a:rPr lang="pl-PL" sz="2400" dirty="0"/>
              <a:t>otoczenia polityczno-prawnego </a:t>
            </a:r>
            <a:r>
              <a:rPr lang="pl-PL" sz="2400" dirty="0" smtClean="0"/>
              <a:t>są </a:t>
            </a:r>
            <a:r>
              <a:rPr lang="pl-PL" sz="2400" dirty="0"/>
              <a:t>zmieniane i regulowane przez </a:t>
            </a:r>
            <a:r>
              <a:rPr lang="pl-PL" sz="2400" dirty="0" smtClean="0"/>
              <a:t>państwo </a:t>
            </a:r>
            <a:r>
              <a:rPr lang="pl-PL" sz="2400" dirty="0"/>
              <a:t>jako podmiot interwencjonizmu na rynku.</a:t>
            </a:r>
          </a:p>
        </p:txBody>
      </p:sp>
    </p:spTree>
    <p:extLst>
      <p:ext uri="{BB962C8B-B14F-4D97-AF65-F5344CB8AC3E}">
        <p14:creationId xmlns:p14="http://schemas.microsoft.com/office/powerpoint/2010/main" val="214834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1123837"/>
            <a:ext cx="3405351" cy="4601183"/>
          </a:xfrm>
        </p:spPr>
        <p:txBody>
          <a:bodyPr/>
          <a:lstStyle/>
          <a:p>
            <a:r>
              <a:rPr lang="pl-PL" dirty="0" smtClean="0"/>
              <a:t>Reakcje przedsiębiorstwa na otoczenie: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15559" y="84083"/>
            <a:ext cx="8261131" cy="6773917"/>
          </a:xfrm>
        </p:spPr>
        <p:txBody>
          <a:bodyPr>
            <a:noAutofit/>
          </a:bodyPr>
          <a:lstStyle/>
          <a:p>
            <a:r>
              <a:rPr lang="pl-PL" sz="2800" b="1" dirty="0" smtClean="0"/>
              <a:t>sposób stabilny </a:t>
            </a:r>
            <a:r>
              <a:rPr lang="pl-PL" sz="2800" dirty="0" smtClean="0"/>
              <a:t>=&gt; nastawiony </a:t>
            </a:r>
            <a:r>
              <a:rPr lang="pl-PL" sz="2800" dirty="0"/>
              <a:t>na ponowne </a:t>
            </a:r>
            <a:r>
              <a:rPr lang="pl-PL" sz="2800" dirty="0" smtClean="0"/>
              <a:t>wykorzystywanie </a:t>
            </a:r>
            <a:r>
              <a:rPr lang="pl-PL" sz="2800" dirty="0"/>
              <a:t>czynników, które </a:t>
            </a:r>
            <a:r>
              <a:rPr lang="pl-PL" sz="2800" dirty="0" smtClean="0"/>
              <a:t>zapewniły </a:t>
            </a:r>
            <a:r>
              <a:rPr lang="pl-PL" sz="2800" dirty="0"/>
              <a:t>dotychczasowe </a:t>
            </a:r>
            <a:r>
              <a:rPr lang="pl-PL" sz="2800" dirty="0" smtClean="0"/>
              <a:t>powodzenie;</a:t>
            </a:r>
          </a:p>
          <a:p>
            <a:r>
              <a:rPr lang="pl-PL" sz="2800" b="1" dirty="0" smtClean="0"/>
              <a:t>sposób reaktywny </a:t>
            </a:r>
            <a:r>
              <a:rPr lang="pl-PL" sz="2800" dirty="0" smtClean="0"/>
              <a:t>=&gt; wykorzystujący </a:t>
            </a:r>
            <a:r>
              <a:rPr lang="pl-PL" sz="2800" dirty="0"/>
              <a:t>pewne elementy zmian, lecz bez rezygnowania z </a:t>
            </a:r>
            <a:r>
              <a:rPr lang="pl-PL" sz="2800" dirty="0" smtClean="0"/>
              <a:t>dotychczasowych doświadczeń;</a:t>
            </a:r>
          </a:p>
          <a:p>
            <a:r>
              <a:rPr lang="pl-PL" sz="2800" b="1" dirty="0" smtClean="0"/>
              <a:t>sposób antycypujący </a:t>
            </a:r>
            <a:r>
              <a:rPr lang="pl-PL" sz="2800" dirty="0" smtClean="0"/>
              <a:t>=&gt; przyjmowanie możliwych </a:t>
            </a:r>
            <a:r>
              <a:rPr lang="pl-PL" sz="2800" dirty="0"/>
              <a:t>do przewidzenia </a:t>
            </a:r>
            <a:r>
              <a:rPr lang="pl-PL" sz="2800" dirty="0" smtClean="0"/>
              <a:t>szans </a:t>
            </a:r>
            <a:r>
              <a:rPr lang="pl-PL" sz="2800" dirty="0"/>
              <a:t>i </a:t>
            </a:r>
            <a:r>
              <a:rPr lang="pl-PL" sz="2800" dirty="0" smtClean="0"/>
              <a:t>zagrożeń </a:t>
            </a:r>
            <a:r>
              <a:rPr lang="pl-PL" sz="2800" dirty="0"/>
              <a:t>oraz przystosowanie do nich </a:t>
            </a:r>
            <a:r>
              <a:rPr lang="pl-PL" sz="2800" dirty="0" smtClean="0"/>
              <a:t>przedsiębiorstwa;</a:t>
            </a:r>
          </a:p>
          <a:p>
            <a:r>
              <a:rPr lang="pl-PL" sz="2800" b="1" dirty="0"/>
              <a:t>s</a:t>
            </a:r>
            <a:r>
              <a:rPr lang="pl-PL" sz="2800" b="1" dirty="0" smtClean="0"/>
              <a:t>posób kreatywny / odkrywczy </a:t>
            </a:r>
            <a:r>
              <a:rPr lang="pl-PL" sz="2800" dirty="0" smtClean="0"/>
              <a:t>=&gt; poszukujący </a:t>
            </a:r>
            <a:r>
              <a:rPr lang="pl-PL" sz="2800" dirty="0"/>
              <a:t>nowych zjawisk i </a:t>
            </a:r>
            <a:r>
              <a:rPr lang="pl-PL" sz="2800" dirty="0" smtClean="0"/>
              <a:t>możliwości </a:t>
            </a:r>
            <a:r>
              <a:rPr lang="pl-PL" sz="2800" dirty="0"/>
              <a:t>dla tworzenia innowacyjnych sposobów </a:t>
            </a:r>
            <a:r>
              <a:rPr lang="pl-PL" sz="2800" dirty="0" smtClean="0"/>
              <a:t>postępowania</a:t>
            </a:r>
            <a:r>
              <a:rPr lang="pl-PL" sz="2800" dirty="0"/>
              <a:t>, </a:t>
            </a:r>
            <a:r>
              <a:rPr lang="pl-PL" sz="2800" dirty="0" smtClean="0"/>
              <a:t>odkrywanie i </a:t>
            </a:r>
            <a:r>
              <a:rPr lang="pl-PL" sz="2800" dirty="0"/>
              <a:t>wykorzystywania nieznanych </a:t>
            </a:r>
            <a:r>
              <a:rPr lang="pl-PL" sz="2800" dirty="0" smtClean="0"/>
              <a:t>dotąd możliwości </a:t>
            </a:r>
            <a:r>
              <a:rPr lang="pl-PL" sz="2800" dirty="0"/>
              <a:t>tworzenia produktów i zdobywania dla nich rynku</a:t>
            </a:r>
          </a:p>
        </p:txBody>
      </p:sp>
    </p:spTree>
    <p:extLst>
      <p:ext uri="{BB962C8B-B14F-4D97-AF65-F5344CB8AC3E}">
        <p14:creationId xmlns:p14="http://schemas.microsoft.com/office/powerpoint/2010/main" val="210154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1123837"/>
            <a:ext cx="3468414" cy="4601183"/>
          </a:xfrm>
        </p:spPr>
        <p:txBody>
          <a:bodyPr/>
          <a:lstStyle/>
          <a:p>
            <a:r>
              <a:rPr lang="pl-PL" b="1" dirty="0" smtClean="0"/>
              <a:t>ZARZĄDZANIE PRZEZ PROJEKTY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26069" y="357351"/>
            <a:ext cx="7987861" cy="6201103"/>
          </a:xfrm>
        </p:spPr>
        <p:txBody>
          <a:bodyPr>
            <a:normAutofit/>
          </a:bodyPr>
          <a:lstStyle/>
          <a:p>
            <a:r>
              <a:rPr lang="pl-PL" sz="2400" dirty="0"/>
              <a:t>Zarządzanie przez projekty stało się współcześnie bardzo popularnym narzędziem zarządzania wykorzystywanym </a:t>
            </a:r>
            <a:r>
              <a:rPr lang="pl-PL" sz="2400" dirty="0" smtClean="0"/>
              <a:t>w organizacjach</a:t>
            </a:r>
            <a:r>
              <a:rPr lang="pl-PL" sz="2400" dirty="0" smtClean="0"/>
              <a:t>.</a:t>
            </a:r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dirty="0" smtClean="0"/>
              <a:t>Pozwala </a:t>
            </a:r>
            <a:r>
              <a:rPr lang="pl-PL" sz="2400" dirty="0"/>
              <a:t>na opracowanie strategii dotyczącej realizacji założeń przedsiębiorstwa, by to się rozwijało i wykonywało powierzone zadania</a:t>
            </a:r>
            <a:r>
              <a:rPr lang="pl-PL" sz="2400" dirty="0" smtClean="0"/>
              <a:t>.</a:t>
            </a:r>
          </a:p>
          <a:p>
            <a:pPr marL="0" indent="0">
              <a:buNone/>
            </a:pPr>
            <a:endParaRPr lang="pl-PL" sz="2400" dirty="0"/>
          </a:p>
          <a:p>
            <a:r>
              <a:rPr lang="pl-PL" sz="2400" dirty="0"/>
              <a:t>Zarządzanie projektem to dziedzina zarządzania, która</a:t>
            </a:r>
            <a:r>
              <a:rPr lang="pl-PL" sz="2400" b="1" dirty="0"/>
              <a:t> zajmuje się efektywnym osiąganiem celów projektów</a:t>
            </a:r>
            <a:r>
              <a:rPr lang="pl-PL" sz="2400" dirty="0"/>
              <a:t> przy jednoczesnej neutralizacji wpływu istniejących ograniczeń i ryzyka, jak również jest dziedziną zajmującą się budowaniem motywacji zespołu projektowego i właściwą komunikacją pomiędzy uczestnikami projektu.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3376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400" b="1" dirty="0" smtClean="0"/>
              <a:t>DEFINICJA</a:t>
            </a:r>
            <a:br>
              <a:rPr lang="pl-PL" sz="4400" b="1" dirty="0" smtClean="0"/>
            </a:br>
            <a:r>
              <a:rPr lang="pl-PL" sz="4400" b="1" dirty="0" smtClean="0"/>
              <a:t>PROJEKTU</a:t>
            </a:r>
            <a:endParaRPr lang="pl-PL" sz="4400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84028" y="199697"/>
            <a:ext cx="8050924" cy="6558455"/>
          </a:xfrm>
        </p:spPr>
        <p:txBody>
          <a:bodyPr>
            <a:normAutofit/>
          </a:bodyPr>
          <a:lstStyle/>
          <a:p>
            <a:r>
              <a:rPr lang="pl-PL" sz="2400" dirty="0"/>
              <a:t>Projekt to </a:t>
            </a:r>
            <a:r>
              <a:rPr lang="pl-PL" sz="2400" u="sng" dirty="0"/>
              <a:t>tymczasowe</a:t>
            </a:r>
            <a:r>
              <a:rPr lang="pl-PL" sz="2400" dirty="0"/>
              <a:t> przedsięwzięcie podejmowane w celu wytworzenia </a:t>
            </a:r>
            <a:r>
              <a:rPr lang="pl-PL" sz="2400" u="sng" dirty="0"/>
              <a:t>unikalnego</a:t>
            </a:r>
            <a:r>
              <a:rPr lang="pl-PL" sz="2400" dirty="0"/>
              <a:t> wyrobu, dostarczenia unikalnej usługi lub uzyskania unikalnego rezultatu</a:t>
            </a:r>
            <a:r>
              <a:rPr lang="pl-PL" sz="2400" dirty="0" smtClean="0"/>
              <a:t>.</a:t>
            </a:r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dirty="0" smtClean="0"/>
              <a:t>Projekt </a:t>
            </a:r>
            <a:r>
              <a:rPr lang="pl-PL" sz="2400" dirty="0"/>
              <a:t>to </a:t>
            </a:r>
            <a:r>
              <a:rPr lang="pl-PL" sz="2400" u="sng" dirty="0"/>
              <a:t>unikalne</a:t>
            </a:r>
            <a:r>
              <a:rPr lang="pl-PL" sz="2400" dirty="0"/>
              <a:t> przedsięwzięcie, które ma określony </a:t>
            </a:r>
            <a:r>
              <a:rPr lang="pl-PL" sz="2400" u="sng" dirty="0"/>
              <a:t>cel</a:t>
            </a:r>
            <a:r>
              <a:rPr lang="pl-PL" sz="2400" dirty="0"/>
              <a:t>, </a:t>
            </a:r>
            <a:r>
              <a:rPr lang="pl-PL" sz="2400" u="sng" dirty="0"/>
              <a:t>ograniczony czas </a:t>
            </a:r>
            <a:r>
              <a:rPr lang="pl-PL" sz="2400" dirty="0"/>
              <a:t>trwania i wyznaczone zasoby. </a:t>
            </a:r>
            <a:endParaRPr lang="pl-PL" sz="2400" dirty="0" smtClean="0"/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dirty="0"/>
              <a:t>„Projektem nazywa się w naukach o zarządzaniu przedsięwzięcie o zaplanowanym </a:t>
            </a:r>
            <a:r>
              <a:rPr lang="pl-PL" sz="2400" u="sng" dirty="0"/>
              <a:t>początku i końcu</a:t>
            </a:r>
            <a:r>
              <a:rPr lang="pl-PL" sz="2400" dirty="0"/>
              <a:t>, którego </a:t>
            </a:r>
            <a:r>
              <a:rPr lang="pl-PL" sz="2400" u="sng" dirty="0"/>
              <a:t>celem</a:t>
            </a:r>
            <a:r>
              <a:rPr lang="pl-PL" sz="2400" dirty="0"/>
              <a:t> jest dostarczenie pewnego </a:t>
            </a:r>
            <a:r>
              <a:rPr lang="pl-PL" sz="2400" u="sng" dirty="0"/>
              <a:t>unikalnego</a:t>
            </a:r>
            <a:r>
              <a:rPr lang="pl-PL" sz="2400" dirty="0"/>
              <a:t> produktu.”</a:t>
            </a:r>
            <a:endParaRPr lang="pl-PL" sz="2400" dirty="0" smtClean="0"/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dirty="0"/>
              <a:t>Projekt to </a:t>
            </a:r>
            <a:r>
              <a:rPr lang="pl-PL" sz="2400" u="sng" dirty="0"/>
              <a:t>unikatowy</a:t>
            </a:r>
            <a:r>
              <a:rPr lang="pl-PL" sz="2400" dirty="0"/>
              <a:t> zestaw skoordynowanych działań </a:t>
            </a:r>
            <a:r>
              <a:rPr lang="pl-PL" sz="2400" u="sng" dirty="0" smtClean="0"/>
              <a:t>ograniczony </a:t>
            </a:r>
            <a:r>
              <a:rPr lang="pl-PL" sz="2400" u="sng" dirty="0"/>
              <a:t>czasem </a:t>
            </a:r>
            <a:r>
              <a:rPr lang="pl-PL" sz="2400" dirty="0"/>
              <a:t>i kosztami, mający na </a:t>
            </a:r>
            <a:r>
              <a:rPr lang="pl-PL" sz="2400" u="sng" dirty="0"/>
              <a:t>celu</a:t>
            </a:r>
            <a:r>
              <a:rPr lang="pl-PL" sz="2400" dirty="0"/>
              <a:t> uzyskanie zbioru określonych uprzednio produktów, zachowując przy tym normy jakości i wymagania </a:t>
            </a:r>
            <a:r>
              <a:rPr lang="pl-PL" sz="2400" i="1" dirty="0"/>
              <a:t>(National </a:t>
            </a:r>
            <a:r>
              <a:rPr lang="pl-PL" sz="2400" i="1" dirty="0" err="1"/>
              <a:t>Competence</a:t>
            </a:r>
            <a:r>
              <a:rPr lang="pl-PL" sz="2400" i="1" dirty="0"/>
              <a:t> </a:t>
            </a:r>
            <a:r>
              <a:rPr lang="pl-PL" sz="2400" i="1" dirty="0" err="1"/>
              <a:t>Baseline</a:t>
            </a:r>
            <a:r>
              <a:rPr lang="pl-PL" sz="2400" i="1" dirty="0"/>
              <a:t> </a:t>
            </a:r>
            <a:r>
              <a:rPr lang="pl-PL" sz="2400" i="1" dirty="0" smtClean="0"/>
              <a:t>– NBC wg. IPMA)</a:t>
            </a:r>
          </a:p>
        </p:txBody>
      </p:sp>
    </p:spTree>
    <p:extLst>
      <p:ext uri="{BB962C8B-B14F-4D97-AF65-F5344CB8AC3E}">
        <p14:creationId xmlns:p14="http://schemas.microsoft.com/office/powerpoint/2010/main" val="48230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400" b="1" dirty="0" smtClean="0"/>
              <a:t>DEFINICJA PROJEKTU</a:t>
            </a:r>
            <a:endParaRPr lang="pl-PL" sz="4400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89131" y="864107"/>
            <a:ext cx="7882759" cy="5883533"/>
          </a:xfrm>
        </p:spPr>
        <p:txBody>
          <a:bodyPr>
            <a:normAutofit/>
          </a:bodyPr>
          <a:lstStyle/>
          <a:p>
            <a:r>
              <a:rPr lang="pl-PL" sz="2800" dirty="0"/>
              <a:t>Projekt to sekwencja niepowtarzalnych złożonych i związanych ze sobą </a:t>
            </a:r>
            <a:r>
              <a:rPr lang="pl-PL" sz="2800" dirty="0" smtClean="0"/>
              <a:t>działań, </a:t>
            </a:r>
            <a:r>
              <a:rPr lang="pl-PL" sz="2800" dirty="0"/>
              <a:t>przeznaczonych do wykonania w wyznaczonym terminie bez przekraczania ustalonego budżetu i zgodnie z założonymi wymaganiami. </a:t>
            </a:r>
            <a:r>
              <a:rPr lang="pl-PL" sz="2800" i="1" dirty="0"/>
              <a:t>(R. Wysocki, R. </a:t>
            </a:r>
            <a:r>
              <a:rPr lang="pl-PL" sz="2800" i="1" dirty="0" err="1"/>
              <a:t>Mcgary</a:t>
            </a:r>
            <a:r>
              <a:rPr lang="pl-PL" sz="2800" i="1" dirty="0"/>
              <a:t>, „Efektywne zarządzanie projektami”, Helion </a:t>
            </a:r>
            <a:r>
              <a:rPr lang="pl-PL" sz="2800" i="1" dirty="0" smtClean="0"/>
              <a:t>2005)</a:t>
            </a:r>
          </a:p>
          <a:p>
            <a:pPr marL="0" indent="0">
              <a:buNone/>
            </a:pPr>
            <a:endParaRPr lang="pl-PL" sz="2800" i="1" dirty="0" smtClean="0"/>
          </a:p>
          <a:p>
            <a:r>
              <a:rPr lang="pl-PL" sz="2800" dirty="0"/>
              <a:t>Projekt jest przedsięwzięciem, które jest zasadniczo scharakteryzowane poprzez unikatowość swoich uwarunkowań, tzn. celów, czasu, kosztów, jakości.</a:t>
            </a:r>
            <a:endParaRPr lang="pl-PL" sz="2800" i="1" dirty="0"/>
          </a:p>
        </p:txBody>
      </p:sp>
    </p:spTree>
    <p:extLst>
      <p:ext uri="{BB962C8B-B14F-4D97-AF65-F5344CB8AC3E}">
        <p14:creationId xmlns:p14="http://schemas.microsoft.com/office/powerpoint/2010/main" val="304723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b="1" dirty="0"/>
              <a:t>DEFINICJA</a:t>
            </a:r>
            <a:br>
              <a:rPr lang="pl-PL" sz="4000" b="1" dirty="0"/>
            </a:br>
            <a:r>
              <a:rPr lang="pl-PL" sz="4000" b="1" dirty="0"/>
              <a:t>PROJEKTU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69267" y="0"/>
            <a:ext cx="7734153" cy="6716110"/>
          </a:xfrm>
        </p:spPr>
        <p:txBody>
          <a:bodyPr>
            <a:normAutofit/>
          </a:bodyPr>
          <a:lstStyle/>
          <a:p>
            <a:r>
              <a:rPr lang="pl-PL" sz="2400" dirty="0"/>
              <a:t>Projekt w ujęciu ogólnym może być interpretowany jako plan działania, zakładana inicjatywa bądź pomysł.</a:t>
            </a:r>
          </a:p>
          <a:p>
            <a:r>
              <a:rPr lang="pl-PL" sz="2400" dirty="0"/>
              <a:t>Na gruncie nauk o zarządzaniu projekt jest pojęciem rozumianym w aspekcie organizacyjnym oraz procesowym, jako </a:t>
            </a:r>
            <a:r>
              <a:rPr lang="pl-PL" sz="2400" b="1" dirty="0"/>
              <a:t>umiejętne połączenie celowo zaplanowanych, zintegrowanych i skoordynowanych ze sobą działań, podejmowanych z zamiarem osiągnięcia precyzyjnie zdefiniowanego celu i uzyskania konkretnych rezultatów</a:t>
            </a:r>
            <a:r>
              <a:rPr lang="pl-PL" sz="2400" dirty="0"/>
              <a:t>.</a:t>
            </a:r>
          </a:p>
          <a:p>
            <a:r>
              <a:rPr lang="pl-PL" sz="2400" dirty="0"/>
              <a:t>Projektem nazywamy takie zaplanowane i realizowane przedsięwzięcie, które posiada łącznie wiele cech. </a:t>
            </a:r>
            <a:endParaRPr lang="pl-PL" sz="2400" dirty="0" smtClean="0"/>
          </a:p>
          <a:p>
            <a:r>
              <a:rPr lang="pl-PL" sz="2400" dirty="0" smtClean="0"/>
              <a:t>Posiadanie </a:t>
            </a:r>
            <a:r>
              <a:rPr lang="pl-PL" sz="2400" dirty="0"/>
              <a:t>tych cech jest warunkiem koniecznym, aby realizowane przedsięwzięcie można było rozpatrywać jako projekt.</a:t>
            </a:r>
          </a:p>
        </p:txBody>
      </p:sp>
    </p:spTree>
    <p:extLst>
      <p:ext uri="{BB962C8B-B14F-4D97-AF65-F5344CB8AC3E}">
        <p14:creationId xmlns:p14="http://schemas.microsoft.com/office/powerpoint/2010/main" val="312924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675" y="231228"/>
            <a:ext cx="8618483" cy="646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53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400" b="1" dirty="0"/>
              <a:t>PROJEKT</a:t>
            </a:r>
            <a:endParaRPr lang="pl-PL" sz="4400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69268" y="864108"/>
            <a:ext cx="7713132" cy="5120640"/>
          </a:xfrm>
        </p:spPr>
        <p:txBody>
          <a:bodyPr>
            <a:normAutofit/>
          </a:bodyPr>
          <a:lstStyle/>
          <a:p>
            <a:r>
              <a:rPr lang="pl-PL" sz="2800" b="1" dirty="0" smtClean="0"/>
              <a:t>Za </a:t>
            </a:r>
            <a:r>
              <a:rPr lang="pl-PL" sz="2800" b="1" dirty="0"/>
              <a:t>projekt </a:t>
            </a:r>
            <a:r>
              <a:rPr lang="pl-PL" sz="2800" b="1" dirty="0" smtClean="0"/>
              <a:t>uznaje się </a:t>
            </a:r>
            <a:r>
              <a:rPr lang="pl-PL" sz="2800" b="1" dirty="0"/>
              <a:t>przedsięwzięcie jednorazowe, unikatowe, innowacyjne, o </a:t>
            </a:r>
            <a:r>
              <a:rPr lang="pl-PL" sz="2800" b="1" dirty="0" smtClean="0"/>
              <a:t>jasno </a:t>
            </a:r>
            <a:r>
              <a:rPr lang="pl-PL" sz="2800" b="1" dirty="0"/>
              <a:t>określonym celu, budżecie, wymaganiach oraz początku i końcu</a:t>
            </a:r>
            <a:r>
              <a:rPr lang="pl-PL" sz="2800" dirty="0"/>
              <a:t>. </a:t>
            </a:r>
            <a:endParaRPr lang="pl-PL" sz="2800" dirty="0" smtClean="0"/>
          </a:p>
          <a:p>
            <a:pPr marL="0" indent="0">
              <a:buNone/>
            </a:pPr>
            <a:endParaRPr lang="pl-PL" sz="900" dirty="0" smtClean="0"/>
          </a:p>
          <a:p>
            <a:r>
              <a:rPr lang="pl-PL" sz="2800" dirty="0"/>
              <a:t>R</a:t>
            </a:r>
            <a:r>
              <a:rPr lang="pl-PL" sz="2800" dirty="0" smtClean="0"/>
              <a:t>ezultatem </a:t>
            </a:r>
            <a:r>
              <a:rPr lang="pl-PL" sz="2800" dirty="0"/>
              <a:t>projektu powinna być zmiana. </a:t>
            </a:r>
            <a:endParaRPr lang="pl-PL" sz="2800" dirty="0" smtClean="0"/>
          </a:p>
          <a:p>
            <a:pPr marL="0" indent="0">
              <a:buNone/>
            </a:pPr>
            <a:endParaRPr lang="pl-PL" sz="900" dirty="0" smtClean="0"/>
          </a:p>
          <a:p>
            <a:r>
              <a:rPr lang="pl-PL" sz="2800" dirty="0" smtClean="0"/>
              <a:t>Jeśli </a:t>
            </a:r>
            <a:r>
              <a:rPr lang="pl-PL" sz="2800" dirty="0"/>
              <a:t>projekt nie powoduje zmiany to </a:t>
            </a:r>
            <a:r>
              <a:rPr lang="pl-PL" sz="2800" dirty="0" smtClean="0"/>
              <a:t>został </a:t>
            </a:r>
            <a:r>
              <a:rPr lang="pl-PL" sz="2800" dirty="0"/>
              <a:t>mylnie nazwany projektem zamiast procesem.</a:t>
            </a:r>
          </a:p>
        </p:txBody>
      </p:sp>
    </p:spTree>
    <p:extLst>
      <p:ext uri="{BB962C8B-B14F-4D97-AF65-F5344CB8AC3E}">
        <p14:creationId xmlns:p14="http://schemas.microsoft.com/office/powerpoint/2010/main" val="120495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400" b="1" dirty="0" smtClean="0"/>
              <a:t>PROJEKT</a:t>
            </a:r>
            <a:endParaRPr lang="pl-PL" sz="4400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69267" y="864108"/>
            <a:ext cx="7755173" cy="5120640"/>
          </a:xfrm>
        </p:spPr>
        <p:txBody>
          <a:bodyPr>
            <a:normAutofit/>
          </a:bodyPr>
          <a:lstStyle/>
          <a:p>
            <a:pPr algn="ctr"/>
            <a:r>
              <a:rPr lang="pl-PL" sz="2400" b="1" dirty="0"/>
              <a:t>CECHY WSPÓLNE RÓŻNYCH DEFINICJI PROJEKTU CHARAKTERYZOWANE SĄ POPRZEZ: </a:t>
            </a:r>
            <a:endParaRPr lang="pl-PL" sz="2400" b="1" dirty="0" smtClean="0"/>
          </a:p>
          <a:p>
            <a:r>
              <a:rPr lang="pl-PL" sz="2400" dirty="0" smtClean="0"/>
              <a:t>zasoby </a:t>
            </a:r>
          </a:p>
          <a:p>
            <a:r>
              <a:rPr lang="pl-PL" sz="2400" dirty="0" smtClean="0"/>
              <a:t>czas </a:t>
            </a:r>
          </a:p>
          <a:p>
            <a:r>
              <a:rPr lang="pl-PL" sz="2400" dirty="0" smtClean="0"/>
              <a:t>koszt </a:t>
            </a:r>
          </a:p>
          <a:p>
            <a:r>
              <a:rPr lang="pl-PL" sz="2400" dirty="0" smtClean="0"/>
              <a:t>jakość </a:t>
            </a:r>
          </a:p>
          <a:p>
            <a:r>
              <a:rPr lang="pl-PL" sz="2400" dirty="0" smtClean="0"/>
              <a:t>zakres </a:t>
            </a:r>
            <a:r>
              <a:rPr lang="pl-PL" sz="2400" dirty="0"/>
              <a:t>(działania) </a:t>
            </a:r>
            <a:endParaRPr lang="pl-PL" sz="2400" dirty="0" smtClean="0"/>
          </a:p>
          <a:p>
            <a:pPr marL="0" indent="0">
              <a:buNone/>
            </a:pPr>
            <a:r>
              <a:rPr lang="pl-PL" sz="2400" dirty="0"/>
              <a:t> </a:t>
            </a:r>
            <a:r>
              <a:rPr lang="pl-PL" sz="2400" dirty="0" smtClean="0"/>
              <a:t>                      </a:t>
            </a:r>
            <a:r>
              <a:rPr lang="pl-PL" sz="2400" u="sng" dirty="0" smtClean="0"/>
              <a:t>są </a:t>
            </a:r>
            <a:r>
              <a:rPr lang="pl-PL" sz="2400" u="sng" dirty="0"/>
              <a:t>czynnikami sukcesu zarządzania projektem</a:t>
            </a:r>
            <a:r>
              <a:rPr lang="pl-PL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062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b="1" dirty="0" smtClean="0"/>
              <a:t>CECHY PROJEKTU</a:t>
            </a:r>
            <a:endParaRPr lang="pl-PL" sz="4000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69268" y="220717"/>
            <a:ext cx="7702622" cy="6526924"/>
          </a:xfrm>
        </p:spPr>
        <p:txBody>
          <a:bodyPr/>
          <a:lstStyle/>
          <a:p>
            <a:r>
              <a:rPr lang="pl-PL" sz="2400" dirty="0"/>
              <a:t>jest </a:t>
            </a:r>
            <a:r>
              <a:rPr lang="pl-PL" sz="2400" dirty="0" smtClean="0"/>
              <a:t>ukierunkowany </a:t>
            </a:r>
            <a:r>
              <a:rPr lang="pl-PL" sz="2400" dirty="0"/>
              <a:t>na realizację określonego celu;</a:t>
            </a:r>
          </a:p>
          <a:p>
            <a:r>
              <a:rPr lang="pl-PL" sz="2400" dirty="0"/>
              <a:t>polega na skoordynowaniu wzajemnie powiązanych ze sobą działań;</a:t>
            </a:r>
          </a:p>
          <a:p>
            <a:r>
              <a:rPr lang="pl-PL" sz="2400" dirty="0"/>
              <a:t>jest </a:t>
            </a:r>
            <a:r>
              <a:rPr lang="pl-PL" sz="2400" dirty="0" smtClean="0"/>
              <a:t>realizowany </a:t>
            </a:r>
            <a:r>
              <a:rPr lang="pl-PL" sz="2400" dirty="0"/>
              <a:t>zespołowo </a:t>
            </a:r>
            <a:r>
              <a:rPr lang="pl-PL" sz="2400" i="1" dirty="0"/>
              <a:t>(udział czynnika kapitału ludzkiego);</a:t>
            </a:r>
          </a:p>
          <a:p>
            <a:r>
              <a:rPr lang="pl-PL" sz="2400" dirty="0"/>
              <a:t>charakteryzuje się wysokim stopniem złożoności;</a:t>
            </a:r>
          </a:p>
          <a:p>
            <a:r>
              <a:rPr lang="pl-PL" sz="2400" dirty="0"/>
              <a:t>jest działaniem unikalnym, niepowtarzalnym;</a:t>
            </a:r>
          </a:p>
          <a:p>
            <a:r>
              <a:rPr lang="pl-PL" sz="2400" dirty="0"/>
              <a:t>wymaga współpracy specjalistów z różnych dziedzin;</a:t>
            </a:r>
          </a:p>
          <a:p>
            <a:r>
              <a:rPr lang="pl-PL" sz="2400" dirty="0"/>
              <a:t>jest przedsięwzięciem realizowanym w określonym czasie </a:t>
            </a:r>
            <a:r>
              <a:rPr lang="pl-PL" sz="2400" i="1" dirty="0"/>
              <a:t>(ma konkretny termin rozpoczęcia i zakończenia);</a:t>
            </a:r>
          </a:p>
          <a:p>
            <a:r>
              <a:rPr lang="pl-PL" sz="2400" dirty="0"/>
              <a:t>posiada określony budżet i zasoby zaangażowane w realizację przedsięwzięcia</a:t>
            </a:r>
            <a:r>
              <a:rPr lang="pl-PL" sz="2400" dirty="0" smtClean="0"/>
              <a:t>;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176463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b="1" dirty="0"/>
              <a:t>CECHY PROJEKTU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15559" y="472966"/>
            <a:ext cx="8008881" cy="6096000"/>
          </a:xfrm>
        </p:spPr>
        <p:txBody>
          <a:bodyPr/>
          <a:lstStyle/>
          <a:p>
            <a:r>
              <a:rPr lang="pl-PL" sz="2400" dirty="0"/>
              <a:t>ma wyjątkowy charakter </a:t>
            </a:r>
            <a:r>
              <a:rPr lang="pl-PL" sz="2400" i="1" dirty="0"/>
              <a:t>(niepowtarzalność przedsięwzięcia);</a:t>
            </a:r>
          </a:p>
          <a:p>
            <a:r>
              <a:rPr lang="pl-PL" sz="2400" dirty="0"/>
              <a:t>charakteryzuje się odrębnością organizacyjną i strukturalną </a:t>
            </a:r>
            <a:r>
              <a:rPr lang="pl-PL" sz="2400" i="1" dirty="0"/>
              <a:t>(wykracza poza zakres codziennych, rutynowych działań realizowanych w danej organizacji)</a:t>
            </a:r>
            <a:r>
              <a:rPr lang="pl-PL" sz="2400" dirty="0"/>
              <a:t>;</a:t>
            </a:r>
          </a:p>
          <a:p>
            <a:r>
              <a:rPr lang="pl-PL" sz="2400" dirty="0"/>
              <a:t>charakteryzuje się określoną grupą beneficjentów, do których jest skierowany; musi również posiadać osobę odpowiedzialną za jego realizację;</a:t>
            </a:r>
          </a:p>
          <a:p>
            <a:r>
              <a:rPr lang="pl-PL" sz="2400" dirty="0"/>
              <a:t>immanentną cechą jest występowanie określonego stopnia ryzyka, które jest wieloczynnikowo </a:t>
            </a:r>
            <a:r>
              <a:rPr lang="pl-PL" sz="2400" dirty="0" smtClean="0"/>
              <a:t>uwarunkowane.</a:t>
            </a:r>
            <a:endParaRPr lang="pl-PL" sz="2400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30051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3183964" cy="4601183"/>
          </a:xfrm>
        </p:spPr>
        <p:txBody>
          <a:bodyPr/>
          <a:lstStyle/>
          <a:p>
            <a:r>
              <a:rPr lang="pl-PL" b="1" dirty="0" smtClean="0"/>
              <a:t>ZARZĄDZANIE PROJEKTAMI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94537" y="157655"/>
            <a:ext cx="8198069" cy="6516414"/>
          </a:xfrm>
        </p:spPr>
        <p:txBody>
          <a:bodyPr>
            <a:normAutofit/>
          </a:bodyPr>
          <a:lstStyle/>
          <a:p>
            <a:r>
              <a:rPr lang="pl-PL" sz="2400" dirty="0"/>
              <a:t>T</a:t>
            </a:r>
            <a:r>
              <a:rPr lang="pl-PL" sz="2400" dirty="0" smtClean="0"/>
              <a:t>o </a:t>
            </a:r>
            <a:r>
              <a:rPr lang="pl-PL" sz="2400" dirty="0"/>
              <a:t>proces planowania, organizowania, monitorowania i kontrolowania działań, aby osiągnąć cele projektu w określonym czasie i zasobach. </a:t>
            </a:r>
            <a:endParaRPr lang="pl-PL" sz="2400" dirty="0" smtClean="0"/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dirty="0"/>
              <a:t>J</a:t>
            </a:r>
            <a:r>
              <a:rPr lang="pl-PL" sz="2400" dirty="0" smtClean="0"/>
              <a:t>est </a:t>
            </a:r>
            <a:r>
              <a:rPr lang="pl-PL" sz="2400" dirty="0"/>
              <a:t>to metoda zarządzania ukierunkowana na efektywne osiąganie celu projektu, w określonym czasie oraz przy ustalonym </a:t>
            </a:r>
            <a:r>
              <a:rPr lang="pl-PL" sz="2400" dirty="0" smtClean="0"/>
              <a:t>budżecie </a:t>
            </a:r>
            <a:r>
              <a:rPr lang="pl-PL" sz="2400" i="1" dirty="0" smtClean="0"/>
              <a:t>(</a:t>
            </a:r>
            <a:r>
              <a:rPr lang="en-US" sz="2400" i="1" dirty="0"/>
              <a:t>A Guide to the Project Management Body of Knowledge.(2012). USA, </a:t>
            </a:r>
            <a:r>
              <a:rPr lang="en-US" sz="2400" i="1" dirty="0" err="1"/>
              <a:t>Wyd</a:t>
            </a:r>
            <a:r>
              <a:rPr lang="en-US" sz="2400" i="1" dirty="0"/>
              <a:t>. </a:t>
            </a:r>
            <a:r>
              <a:rPr lang="en-US" sz="2400" i="1" dirty="0" smtClean="0"/>
              <a:t>PMI</a:t>
            </a:r>
            <a:r>
              <a:rPr lang="pl-PL" sz="2400" i="1" dirty="0" smtClean="0"/>
              <a:t>)</a:t>
            </a:r>
          </a:p>
          <a:p>
            <a:pPr marL="0" indent="0">
              <a:buNone/>
            </a:pPr>
            <a:endParaRPr lang="pl-PL" sz="2400" i="1" dirty="0" smtClean="0"/>
          </a:p>
          <a:p>
            <a:r>
              <a:rPr lang="pl-PL" sz="2400" dirty="0"/>
              <a:t>Zastosowanie wiedzy, umiejętności, narzędzi oraz technik w odniesieniu do działań realizowanych w projekcie w celu spełnienia wymagań danego </a:t>
            </a:r>
            <a:r>
              <a:rPr lang="pl-PL" sz="2400" dirty="0" smtClean="0"/>
              <a:t>projektu</a:t>
            </a:r>
            <a:endParaRPr lang="pl-PL" sz="2400" i="1" dirty="0" smtClean="0"/>
          </a:p>
        </p:txBody>
      </p:sp>
    </p:spTree>
    <p:extLst>
      <p:ext uri="{BB962C8B-B14F-4D97-AF65-F5344CB8AC3E}">
        <p14:creationId xmlns:p14="http://schemas.microsoft.com/office/powerpoint/2010/main" val="390210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15614" y="1123837"/>
            <a:ext cx="3268717" cy="4601183"/>
          </a:xfrm>
        </p:spPr>
        <p:txBody>
          <a:bodyPr/>
          <a:lstStyle/>
          <a:p>
            <a:r>
              <a:rPr lang="pl-PL" b="1" dirty="0"/>
              <a:t>ZARZĄDZANIE PROJEKTAMI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69268" y="430924"/>
            <a:ext cx="7315200" cy="6232635"/>
          </a:xfrm>
        </p:spPr>
        <p:txBody>
          <a:bodyPr>
            <a:normAutofit/>
          </a:bodyPr>
          <a:lstStyle/>
          <a:p>
            <a:r>
              <a:rPr lang="pl-PL" sz="2400" dirty="0"/>
              <a:t>Zarządzanie projektami jest definiowane jako planowanie, organizacja, monitorowanie i kierowanie wszystkimi aspektami projektu oraz motywowanie wszystkich jego uczestników, prowadzące do </a:t>
            </a:r>
            <a:r>
              <a:rPr lang="pl-PL" sz="2400" dirty="0" smtClean="0"/>
              <a:t>pełnego </a:t>
            </a:r>
            <a:r>
              <a:rPr lang="pl-PL" sz="2400" dirty="0"/>
              <a:t>osiągnięcia celów projektu, bezpiecznie i w ramach </a:t>
            </a:r>
            <a:r>
              <a:rPr lang="pl-PL" sz="2400" dirty="0" smtClean="0"/>
              <a:t>uzgodnionego </a:t>
            </a:r>
            <a:r>
              <a:rPr lang="pl-PL" sz="2400" dirty="0"/>
              <a:t>czasu, kosztu i kryteriów wykonania</a:t>
            </a:r>
            <a:r>
              <a:rPr lang="pl-PL" sz="2400" dirty="0" smtClean="0"/>
              <a:t>.</a:t>
            </a:r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dirty="0"/>
              <a:t>Zarządzanie projektami definiowane jest także jako takie zastosowanie wiedzy, umiejętności, narzędzi i technik do działań w projekcie, aby możliwe było zaspokojenie lub rozwinięcie potrzeb i oczekiwań adresatów projektu.</a:t>
            </a:r>
          </a:p>
        </p:txBody>
      </p:sp>
    </p:spTree>
    <p:extLst>
      <p:ext uri="{BB962C8B-B14F-4D97-AF65-F5344CB8AC3E}">
        <p14:creationId xmlns:p14="http://schemas.microsoft.com/office/powerpoint/2010/main" val="234808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smtClean="0"/>
              <a:t>METODYKA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57601" y="294290"/>
            <a:ext cx="8029902" cy="6400800"/>
          </a:xfrm>
        </p:spPr>
        <p:txBody>
          <a:bodyPr>
            <a:normAutofit lnSpcReduction="10000"/>
          </a:bodyPr>
          <a:lstStyle/>
          <a:p>
            <a:r>
              <a:rPr lang="pl-PL" sz="2400" b="1" dirty="0" smtClean="0"/>
              <a:t>Metodyka </a:t>
            </a:r>
            <a:r>
              <a:rPr lang="pl-PL" sz="2400" b="1" dirty="0"/>
              <a:t>zarządzania projektami </a:t>
            </a:r>
            <a:r>
              <a:rPr lang="pl-PL" sz="2400" dirty="0"/>
              <a:t>to zbiór procesów i reguł, które organizacja zaleca lub nakazuje stosować kierownikom projektów i/lub zespołom projektowym </a:t>
            </a:r>
            <a:r>
              <a:rPr lang="pl-PL" sz="2400" i="1" dirty="0"/>
              <a:t>(Nicolas J.M., </a:t>
            </a:r>
            <a:r>
              <a:rPr lang="pl-PL" sz="2400" i="1" dirty="0" err="1"/>
              <a:t>Steyn</a:t>
            </a:r>
            <a:r>
              <a:rPr lang="pl-PL" sz="2400" i="1" dirty="0"/>
              <a:t> H. Zarządzanie projektami. Warszawa, Wolters Kluwer Business</a:t>
            </a:r>
            <a:r>
              <a:rPr lang="pl-PL" sz="2400" i="1" dirty="0" smtClean="0"/>
              <a:t>)</a:t>
            </a:r>
          </a:p>
          <a:p>
            <a:pPr marL="0" indent="0">
              <a:buNone/>
            </a:pPr>
            <a:endParaRPr lang="pl-PL" sz="2400" i="1" dirty="0" smtClean="0"/>
          </a:p>
          <a:p>
            <a:r>
              <a:rPr lang="pl-PL" sz="2400" u="sng" dirty="0"/>
              <a:t>Klasyfikacja podziału metodyk projektowych</a:t>
            </a:r>
            <a:r>
              <a:rPr lang="pl-PL" sz="2400" dirty="0"/>
              <a:t>:</a:t>
            </a:r>
          </a:p>
          <a:p>
            <a:r>
              <a:rPr lang="pl-PL" sz="2400" dirty="0" smtClean="0"/>
              <a:t>Metodyki </a:t>
            </a:r>
            <a:r>
              <a:rPr lang="pl-PL" sz="2400" dirty="0"/>
              <a:t>kaskadowe (PRINCE2, PM BOK); </a:t>
            </a:r>
          </a:p>
          <a:p>
            <a:r>
              <a:rPr lang="pl-PL" sz="2400" dirty="0" smtClean="0"/>
              <a:t>Metodyki </a:t>
            </a:r>
            <a:r>
              <a:rPr lang="pl-PL" sz="2400" dirty="0"/>
              <a:t>zwinne (AGILE – </a:t>
            </a:r>
            <a:r>
              <a:rPr lang="pl-PL" sz="2400" dirty="0" smtClean="0"/>
              <a:t>SCRUM); </a:t>
            </a:r>
            <a:endParaRPr lang="pl-PL" sz="2400" dirty="0"/>
          </a:p>
          <a:p>
            <a:r>
              <a:rPr lang="pl-PL" sz="2400" dirty="0" smtClean="0"/>
              <a:t>Metodyki </a:t>
            </a:r>
            <a:r>
              <a:rPr lang="pl-PL" sz="2400" dirty="0"/>
              <a:t>mieszane (kaskadowo-zwinne); </a:t>
            </a:r>
          </a:p>
          <a:p>
            <a:r>
              <a:rPr lang="pl-PL" sz="2400" dirty="0" smtClean="0"/>
              <a:t>Metodyki </a:t>
            </a:r>
            <a:r>
              <a:rPr lang="pl-PL" sz="2400" dirty="0"/>
              <a:t>rekomendowane przez Komisję Europejską – np. Project </a:t>
            </a:r>
            <a:r>
              <a:rPr lang="pl-PL" sz="2400" dirty="0" err="1"/>
              <a:t>Cycle</a:t>
            </a:r>
            <a:r>
              <a:rPr lang="pl-PL" sz="2400" dirty="0"/>
              <a:t> Management (metodyka PCM); </a:t>
            </a:r>
          </a:p>
          <a:p>
            <a:r>
              <a:rPr lang="pl-PL" sz="2400" dirty="0" smtClean="0"/>
              <a:t>Metodyki </a:t>
            </a:r>
            <a:r>
              <a:rPr lang="pl-PL" sz="2400" dirty="0"/>
              <a:t>korporacyjne - z każdej z metodyk wybrano coś, co przynosi przedsiębiorstwu pożytek i ułatwia pracę ludziom, a następnie dostosowano to podejście w jeden spójny sposób podejścia do zarządzania projektami.</a:t>
            </a:r>
            <a:r>
              <a:rPr lang="pl-PL" sz="2400" i="1" dirty="0"/>
              <a:t/>
            </a:r>
            <a:br>
              <a:rPr lang="pl-PL" sz="2400" i="1" dirty="0"/>
            </a:br>
            <a:endParaRPr lang="pl-PL" sz="2400" i="1" dirty="0"/>
          </a:p>
        </p:txBody>
      </p:sp>
    </p:spTree>
    <p:extLst>
      <p:ext uri="{BB962C8B-B14F-4D97-AF65-F5344CB8AC3E}">
        <p14:creationId xmlns:p14="http://schemas.microsoft.com/office/powerpoint/2010/main" val="632098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1123837"/>
            <a:ext cx="3200401" cy="4601183"/>
          </a:xfrm>
        </p:spPr>
        <p:txBody>
          <a:bodyPr/>
          <a:lstStyle/>
          <a:p>
            <a:r>
              <a:rPr lang="pl-PL" b="1" dirty="0"/>
              <a:t>ZARZĄDZANIE PROJEKTEM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720663" y="809297"/>
            <a:ext cx="7966840" cy="5435180"/>
          </a:xfrm>
        </p:spPr>
        <p:txBody>
          <a:bodyPr/>
          <a:lstStyle/>
          <a:p>
            <a:r>
              <a:rPr lang="pl-PL" sz="2400" dirty="0"/>
              <a:t>Proces, w trakcie którego osoba </a:t>
            </a:r>
            <a:r>
              <a:rPr lang="pl-PL" sz="2400" dirty="0" smtClean="0"/>
              <a:t>kierująca</a:t>
            </a:r>
            <a:r>
              <a:rPr lang="pl-PL" sz="2400" dirty="0"/>
              <a:t> </a:t>
            </a:r>
            <a:r>
              <a:rPr lang="pl-PL" sz="2400" dirty="0" smtClean="0"/>
              <a:t>projektem przeprowadza </a:t>
            </a:r>
            <a:r>
              <a:rPr lang="pl-PL" sz="2400" dirty="0"/>
              <a:t>celowe </a:t>
            </a:r>
            <a:r>
              <a:rPr lang="pl-PL" sz="2400" dirty="0" smtClean="0"/>
              <a:t>planowanie i</a:t>
            </a:r>
            <a:r>
              <a:rPr lang="pl-PL" sz="2400" dirty="0"/>
              <a:t> kontrolowanie </a:t>
            </a:r>
            <a:r>
              <a:rPr lang="pl-PL" sz="2400" dirty="0" smtClean="0"/>
              <a:t>zadań wchodzących </a:t>
            </a:r>
            <a:r>
              <a:rPr lang="pl-PL" sz="2400" dirty="0"/>
              <a:t>w </a:t>
            </a:r>
            <a:r>
              <a:rPr lang="pl-PL" sz="2400" dirty="0" smtClean="0"/>
              <a:t>skład</a:t>
            </a:r>
            <a:r>
              <a:rPr lang="pl-PL" sz="2400" dirty="0"/>
              <a:t> </a:t>
            </a:r>
            <a:r>
              <a:rPr lang="pl-PL" sz="2400" dirty="0" smtClean="0"/>
              <a:t>projektu </a:t>
            </a:r>
            <a:r>
              <a:rPr lang="pl-PL" sz="2400" dirty="0"/>
              <a:t>oraz </a:t>
            </a:r>
            <a:endParaRPr lang="pl-PL" sz="2400" dirty="0" smtClean="0"/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dirty="0" smtClean="0"/>
              <a:t>dokonuje </a:t>
            </a:r>
            <a:r>
              <a:rPr lang="pl-PL" sz="2400" dirty="0"/>
              <a:t>odpowiedniej </a:t>
            </a:r>
            <a:r>
              <a:rPr lang="pl-PL" sz="2400" dirty="0" smtClean="0"/>
              <a:t>alokacji przydzielonych </a:t>
            </a:r>
            <a:r>
              <a:rPr lang="pl-PL" sz="2400" dirty="0"/>
              <a:t>do realizacji projektu </a:t>
            </a:r>
            <a:r>
              <a:rPr lang="pl-PL" sz="2400" dirty="0" smtClean="0"/>
              <a:t>środków</a:t>
            </a:r>
            <a:r>
              <a:rPr lang="pl-PL" sz="2400" dirty="0"/>
              <a:t> </a:t>
            </a:r>
            <a:r>
              <a:rPr lang="pl-PL" sz="2400" dirty="0" smtClean="0"/>
              <a:t>posługując się </a:t>
            </a:r>
            <a:r>
              <a:rPr lang="pl-PL" sz="2400" dirty="0"/>
              <a:t>przy tym odpowiednimi </a:t>
            </a:r>
            <a:r>
              <a:rPr lang="pl-PL" sz="2400" dirty="0" smtClean="0"/>
              <a:t>technikami i</a:t>
            </a:r>
            <a:r>
              <a:rPr lang="pl-PL" sz="2400" dirty="0"/>
              <a:t> metodami, aby </a:t>
            </a:r>
            <a:r>
              <a:rPr lang="pl-PL" sz="2400" dirty="0" smtClean="0"/>
              <a:t>osiągnąć </a:t>
            </a:r>
            <a:r>
              <a:rPr lang="pl-PL" sz="2400" dirty="0"/>
              <a:t>wyznaczony </a:t>
            </a:r>
            <a:r>
              <a:rPr lang="pl-PL" sz="2400" dirty="0" smtClean="0"/>
              <a:t>cel w</a:t>
            </a:r>
            <a:r>
              <a:rPr lang="pl-PL" sz="2400" dirty="0"/>
              <a:t> </a:t>
            </a:r>
            <a:r>
              <a:rPr lang="pl-PL" sz="2400" dirty="0" smtClean="0"/>
              <a:t>określonym </a:t>
            </a:r>
            <a:r>
              <a:rPr lang="pl-PL" sz="2400" dirty="0"/>
              <a:t>terminie, po wyznaczonych kosztach </a:t>
            </a:r>
            <a:r>
              <a:rPr lang="pl-PL" sz="2400" dirty="0" smtClean="0"/>
              <a:t>i o</a:t>
            </a:r>
            <a:r>
              <a:rPr lang="pl-PL" sz="2400" dirty="0"/>
              <a:t> odpowiedniej </a:t>
            </a:r>
            <a:r>
              <a:rPr lang="pl-PL" sz="2400" dirty="0" smtClean="0"/>
              <a:t>jakości.</a:t>
            </a:r>
            <a:endParaRPr lang="pl-PL" sz="2400" dirty="0"/>
          </a:p>
          <a:p>
            <a:pPr marL="0" indent="0">
              <a:buNone/>
            </a:pPr>
            <a:r>
              <a:rPr lang="pl-PL" dirty="0"/>
              <a:t/>
            </a:r>
            <a:br>
              <a:rPr lang="pl-PL" dirty="0"/>
            </a:b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2411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1123837"/>
            <a:ext cx="3200401" cy="4601183"/>
          </a:xfrm>
        </p:spPr>
        <p:txBody>
          <a:bodyPr/>
          <a:lstStyle/>
          <a:p>
            <a:r>
              <a:rPr lang="pl-PL" b="1" dirty="0" smtClean="0"/>
              <a:t>ZARZĄDZANIE PROJEKTEM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68110" y="409903"/>
            <a:ext cx="8050924" cy="6264166"/>
          </a:xfrm>
        </p:spPr>
        <p:txBody>
          <a:bodyPr/>
          <a:lstStyle/>
          <a:p>
            <a:r>
              <a:rPr lang="pl-PL" dirty="0"/>
              <a:t>J</a:t>
            </a:r>
            <a:r>
              <a:rPr lang="pl-PL" dirty="0" smtClean="0"/>
              <a:t>est </a:t>
            </a:r>
            <a:r>
              <a:rPr lang="pl-PL" dirty="0"/>
              <a:t>zbiorem różnych czynności w celu wytworzenia PRODUKTU o odpowiedniej jakości w określonym CZASIE i założonych KOSZTACH; </a:t>
            </a:r>
            <a:endParaRPr lang="pl-PL" dirty="0" smtClean="0"/>
          </a:p>
          <a:p>
            <a:pPr marL="0" indent="0">
              <a:buNone/>
            </a:pPr>
            <a:endParaRPr lang="pl-PL" dirty="0" smtClean="0"/>
          </a:p>
          <a:p>
            <a:pPr marL="0" indent="0" algn="ctr">
              <a:buNone/>
            </a:pPr>
            <a:r>
              <a:rPr lang="pl-PL" u="sng" dirty="0" smtClean="0"/>
              <a:t>Zarządzanie projektem </a:t>
            </a:r>
            <a:r>
              <a:rPr lang="pl-PL" u="sng" dirty="0"/>
              <a:t>obejmuje takie elementy, </a:t>
            </a:r>
            <a:r>
              <a:rPr lang="pl-PL" u="sng" dirty="0" smtClean="0"/>
              <a:t>jak:</a:t>
            </a:r>
          </a:p>
          <a:p>
            <a:pPr marL="0" indent="0" algn="ctr">
              <a:buNone/>
            </a:pPr>
            <a:endParaRPr lang="pl-PL" u="sng" dirty="0" smtClean="0"/>
          </a:p>
          <a:p>
            <a:r>
              <a:rPr lang="pl-PL" dirty="0" smtClean="0"/>
              <a:t>PLANOWANIE </a:t>
            </a:r>
            <a:r>
              <a:rPr lang="pl-PL" dirty="0"/>
              <a:t>(Plan projektu – Założenia projektowe, </a:t>
            </a:r>
            <a:r>
              <a:rPr lang="pl-PL" dirty="0" smtClean="0"/>
              <a:t>DIP – Dokument </a:t>
            </a:r>
            <a:r>
              <a:rPr lang="pl-PL" dirty="0"/>
              <a:t>I</a:t>
            </a:r>
            <a:r>
              <a:rPr lang="pl-PL" dirty="0" smtClean="0"/>
              <a:t>nicjujący </a:t>
            </a:r>
            <a:r>
              <a:rPr lang="pl-PL" dirty="0"/>
              <a:t>P</a:t>
            </a:r>
            <a:r>
              <a:rPr lang="pl-PL" dirty="0" smtClean="0"/>
              <a:t>rojekt), </a:t>
            </a:r>
          </a:p>
          <a:p>
            <a:r>
              <a:rPr lang="pl-PL" dirty="0" smtClean="0"/>
              <a:t>OPRACOWANIE </a:t>
            </a:r>
            <a:r>
              <a:rPr lang="pl-PL" dirty="0"/>
              <a:t>HARMONOGRAMU I KOSZTORYSU (HRF – Harmonogram Rzeczowo-Finansowy</a:t>
            </a:r>
            <a:r>
              <a:rPr lang="pl-PL" dirty="0" smtClean="0"/>
              <a:t>),</a:t>
            </a:r>
          </a:p>
          <a:p>
            <a:r>
              <a:rPr lang="pl-PL" dirty="0" smtClean="0"/>
              <a:t>REALIZACJĘ </a:t>
            </a:r>
            <a:r>
              <a:rPr lang="pl-PL" dirty="0"/>
              <a:t>PROJEKTU (wytwarzanie produktów w poszczególnych etapach realizacyjnych) , </a:t>
            </a:r>
          </a:p>
          <a:p>
            <a:r>
              <a:rPr lang="pl-PL" dirty="0" smtClean="0"/>
              <a:t>KONTROLĘ </a:t>
            </a:r>
            <a:r>
              <a:rPr lang="pl-PL" dirty="0"/>
              <a:t>REALIZACJI PROJEKTU (monitoring i </a:t>
            </a:r>
            <a:r>
              <a:rPr lang="pl-PL" dirty="0" smtClean="0"/>
              <a:t>ewaluacja)</a:t>
            </a:r>
          </a:p>
          <a:p>
            <a:r>
              <a:rPr lang="pl-PL" dirty="0" smtClean="0"/>
              <a:t>ROZLICZENIE </a:t>
            </a:r>
            <a:r>
              <a:rPr lang="pl-PL" dirty="0"/>
              <a:t>ZADAŃ PROJEKTOWYCH</a:t>
            </a:r>
          </a:p>
        </p:txBody>
      </p:sp>
    </p:spTree>
    <p:extLst>
      <p:ext uri="{BB962C8B-B14F-4D97-AF65-F5344CB8AC3E}">
        <p14:creationId xmlns:p14="http://schemas.microsoft.com/office/powerpoint/2010/main" val="353163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b="1" dirty="0" smtClean="0"/>
              <a:t>CECHY PROJEKTU</a:t>
            </a:r>
            <a:endParaRPr lang="pl-PL" sz="4000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15559" y="157655"/>
            <a:ext cx="8156028" cy="6484883"/>
          </a:xfrm>
        </p:spPr>
        <p:txBody>
          <a:bodyPr>
            <a:normAutofit lnSpcReduction="10000"/>
          </a:bodyPr>
          <a:lstStyle/>
          <a:p>
            <a:r>
              <a:rPr lang="pl-PL" sz="2800" dirty="0"/>
              <a:t>Unikalny charakter </a:t>
            </a:r>
          </a:p>
          <a:p>
            <a:r>
              <a:rPr lang="pl-PL" sz="2800" dirty="0" smtClean="0"/>
              <a:t>Ograniczony </a:t>
            </a:r>
            <a:r>
              <a:rPr lang="pl-PL" sz="2800" dirty="0"/>
              <a:t>czas trwania </a:t>
            </a:r>
          </a:p>
          <a:p>
            <a:r>
              <a:rPr lang="pl-PL" sz="2800" dirty="0" smtClean="0"/>
              <a:t>Zużywa </a:t>
            </a:r>
            <a:r>
              <a:rPr lang="pl-PL" sz="2800" dirty="0"/>
              <a:t>zasoby </a:t>
            </a:r>
          </a:p>
          <a:p>
            <a:r>
              <a:rPr lang="pl-PL" sz="2800" dirty="0" smtClean="0"/>
              <a:t>Określony </a:t>
            </a:r>
            <a:r>
              <a:rPr lang="pl-PL" sz="2800" dirty="0"/>
              <a:t>zakres </a:t>
            </a:r>
          </a:p>
          <a:p>
            <a:r>
              <a:rPr lang="pl-PL" sz="2800" dirty="0" smtClean="0"/>
              <a:t>System </a:t>
            </a:r>
            <a:r>
              <a:rPr lang="pl-PL" sz="2800" dirty="0"/>
              <a:t>powiązanych ze sobą działań </a:t>
            </a:r>
          </a:p>
          <a:p>
            <a:r>
              <a:rPr lang="pl-PL" sz="2800" dirty="0" smtClean="0"/>
              <a:t>Posiada </a:t>
            </a:r>
            <a:r>
              <a:rPr lang="pl-PL" sz="2800" dirty="0"/>
              <a:t>budżet </a:t>
            </a:r>
          </a:p>
          <a:p>
            <a:r>
              <a:rPr lang="pl-PL" sz="2800" dirty="0" smtClean="0"/>
              <a:t>Posiada </a:t>
            </a:r>
            <a:r>
              <a:rPr lang="pl-PL" sz="2800" dirty="0"/>
              <a:t>sprecyzowane produkty </a:t>
            </a:r>
            <a:r>
              <a:rPr lang="pl-PL" sz="2800" dirty="0" smtClean="0"/>
              <a:t>cząstkowe</a:t>
            </a:r>
          </a:p>
          <a:p>
            <a:pPr marL="0" indent="0">
              <a:buNone/>
            </a:pPr>
            <a:endParaRPr lang="pl-PL" sz="2800" dirty="0" smtClean="0"/>
          </a:p>
          <a:p>
            <a:r>
              <a:rPr lang="pl-PL" sz="2800" i="1" dirty="0" smtClean="0"/>
              <a:t>Zbiór </a:t>
            </a:r>
            <a:r>
              <a:rPr lang="pl-PL" sz="2800" i="1" dirty="0"/>
              <a:t>działań podejmowanych dla realizacji konkretnego, wymiernego rezultatu – produktu projektu </a:t>
            </a:r>
            <a:endParaRPr lang="pl-PL" sz="2800" i="1" dirty="0" smtClean="0"/>
          </a:p>
          <a:p>
            <a:r>
              <a:rPr lang="pl-PL" sz="2800" dirty="0" smtClean="0"/>
              <a:t> </a:t>
            </a:r>
            <a:r>
              <a:rPr lang="pl-PL" sz="2800" i="1" dirty="0"/>
              <a:t>Produkt ten, sam w sobie, nie jest projektem. Jednak to produkt definiuje wymiar techniczny, czasowy i finansowy projektu</a:t>
            </a:r>
          </a:p>
        </p:txBody>
      </p:sp>
    </p:spTree>
    <p:extLst>
      <p:ext uri="{BB962C8B-B14F-4D97-AF65-F5344CB8AC3E}">
        <p14:creationId xmlns:p14="http://schemas.microsoft.com/office/powerpoint/2010/main" val="213635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smtClean="0"/>
              <a:t>CECHY PROJEKTU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69268" y="620110"/>
            <a:ext cx="7315200" cy="6032938"/>
          </a:xfrm>
        </p:spPr>
        <p:txBody>
          <a:bodyPr>
            <a:normAutofit/>
          </a:bodyPr>
          <a:lstStyle/>
          <a:p>
            <a:r>
              <a:rPr lang="pl-PL" sz="2400" b="1" dirty="0"/>
              <a:t>Celowość</a:t>
            </a:r>
            <a:r>
              <a:rPr lang="pl-PL" sz="2400" dirty="0"/>
              <a:t>, czyli wynik określonej strategii </a:t>
            </a:r>
            <a:endParaRPr lang="pl-PL" sz="2400" dirty="0" smtClean="0"/>
          </a:p>
          <a:p>
            <a:r>
              <a:rPr lang="pl-PL" sz="2400" dirty="0" smtClean="0"/>
              <a:t> </a:t>
            </a:r>
            <a:r>
              <a:rPr lang="pl-PL" sz="2400" b="1" dirty="0"/>
              <a:t>Ograniczoność</a:t>
            </a:r>
            <a:r>
              <a:rPr lang="pl-PL" sz="2400" dirty="0"/>
              <a:t>, czyli istnienie ograniczenia czasowego realizacji przedsięwzięcia </a:t>
            </a:r>
          </a:p>
          <a:p>
            <a:r>
              <a:rPr lang="pl-PL" sz="2400" b="1" dirty="0" smtClean="0"/>
              <a:t>Jednokrotność</a:t>
            </a:r>
            <a:r>
              <a:rPr lang="pl-PL" sz="2400" dirty="0"/>
              <a:t>, czyli realizacja niepowtarzalnego </a:t>
            </a:r>
            <a:r>
              <a:rPr lang="pl-PL" sz="2400" dirty="0" smtClean="0"/>
              <a:t>przedsięwzięcia</a:t>
            </a:r>
          </a:p>
          <a:p>
            <a:r>
              <a:rPr lang="pl-PL" sz="2400" b="1" dirty="0" smtClean="0"/>
              <a:t>Odrębność</a:t>
            </a:r>
            <a:r>
              <a:rPr lang="pl-PL" sz="2400" dirty="0"/>
              <a:t>, czyli brak powiązań z normalną, rutynową działalnością firmy </a:t>
            </a:r>
          </a:p>
          <a:p>
            <a:r>
              <a:rPr lang="pl-PL" sz="2400" b="1" dirty="0" smtClean="0"/>
              <a:t>Odrębność </a:t>
            </a:r>
            <a:r>
              <a:rPr lang="pl-PL" sz="2400" b="1" dirty="0"/>
              <a:t>strukturalna</a:t>
            </a:r>
            <a:r>
              <a:rPr lang="pl-PL" sz="2400" dirty="0"/>
              <a:t>, czyli wydzielenie przedsięwzięcia jako osobnej struktury w firmie</a:t>
            </a:r>
          </a:p>
        </p:txBody>
      </p:sp>
    </p:spTree>
    <p:extLst>
      <p:ext uri="{BB962C8B-B14F-4D97-AF65-F5344CB8AC3E}">
        <p14:creationId xmlns:p14="http://schemas.microsoft.com/office/powerpoint/2010/main" val="331315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1123837"/>
            <a:ext cx="3457903" cy="4601183"/>
          </a:xfrm>
        </p:spPr>
        <p:txBody>
          <a:bodyPr/>
          <a:lstStyle/>
          <a:p>
            <a:r>
              <a:rPr lang="pl-PL" b="1" dirty="0" smtClean="0"/>
              <a:t>OGRANICZENIA PROJEKTU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69267" y="864108"/>
            <a:ext cx="7744663" cy="51206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2800" dirty="0"/>
              <a:t>TRÓJKĄT ZMIENNYCH PROJEKTU OKREŚLAJĄCY CZYNNIKI SUKCESU W PROJEKCIE </a:t>
            </a:r>
            <a:endParaRPr lang="pl-PL" sz="2800" dirty="0" smtClean="0"/>
          </a:p>
          <a:p>
            <a:r>
              <a:rPr lang="pl-PL" sz="2800" dirty="0" smtClean="0"/>
              <a:t>Zakres </a:t>
            </a:r>
            <a:r>
              <a:rPr lang="pl-PL" sz="2800" dirty="0"/>
              <a:t>(co?) </a:t>
            </a:r>
            <a:endParaRPr lang="pl-PL" sz="2800" dirty="0" smtClean="0"/>
          </a:p>
          <a:p>
            <a:pPr marL="0" indent="0">
              <a:buNone/>
            </a:pPr>
            <a:endParaRPr lang="pl-PL" sz="2800" dirty="0" smtClean="0"/>
          </a:p>
          <a:p>
            <a:r>
              <a:rPr lang="pl-PL" sz="2800" dirty="0" smtClean="0"/>
              <a:t>Czas </a:t>
            </a:r>
            <a:r>
              <a:rPr lang="pl-PL" sz="2800" dirty="0"/>
              <a:t>(na kiedy?) </a:t>
            </a:r>
            <a:r>
              <a:rPr lang="pl-PL" sz="2800" dirty="0" smtClean="0"/>
              <a:t>       </a:t>
            </a:r>
          </a:p>
          <a:p>
            <a:pPr marL="0" indent="0">
              <a:buNone/>
            </a:pPr>
            <a:endParaRPr lang="pl-PL" sz="2800" dirty="0"/>
          </a:p>
          <a:p>
            <a:r>
              <a:rPr lang="pl-PL" sz="2800" dirty="0" smtClean="0"/>
              <a:t>Budżet </a:t>
            </a:r>
            <a:r>
              <a:rPr lang="pl-PL" sz="2800" dirty="0"/>
              <a:t>(za ile?)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38" y="2743201"/>
            <a:ext cx="5238647" cy="262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66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Przyczyny rozpoczynania projektów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dirty="0"/>
              <a:t>Oczekiwania rynku </a:t>
            </a:r>
          </a:p>
          <a:p>
            <a:r>
              <a:rPr lang="pl-PL" sz="2800" dirty="0" smtClean="0"/>
              <a:t>Potrzeby </a:t>
            </a:r>
            <a:r>
              <a:rPr lang="pl-PL" sz="2800" dirty="0"/>
              <a:t>firmy </a:t>
            </a:r>
          </a:p>
          <a:p>
            <a:r>
              <a:rPr lang="pl-PL" sz="2800" dirty="0" smtClean="0"/>
              <a:t>Zamówienie </a:t>
            </a:r>
            <a:r>
              <a:rPr lang="pl-PL" sz="2800" dirty="0"/>
              <a:t>klienta </a:t>
            </a:r>
          </a:p>
          <a:p>
            <a:r>
              <a:rPr lang="pl-PL" sz="2800" dirty="0" smtClean="0"/>
              <a:t>Postęp </a:t>
            </a:r>
            <a:r>
              <a:rPr lang="pl-PL" sz="2800" dirty="0"/>
              <a:t>technologiczny </a:t>
            </a:r>
          </a:p>
          <a:p>
            <a:r>
              <a:rPr lang="pl-PL" sz="2800" dirty="0" smtClean="0"/>
              <a:t>Wymagania </a:t>
            </a:r>
            <a:r>
              <a:rPr lang="pl-PL" sz="2800" dirty="0"/>
              <a:t>prawne </a:t>
            </a:r>
          </a:p>
          <a:p>
            <a:r>
              <a:rPr lang="pl-PL" sz="2800" dirty="0" smtClean="0"/>
              <a:t>Potrzeby </a:t>
            </a:r>
            <a:r>
              <a:rPr lang="pl-PL" sz="2800" dirty="0"/>
              <a:t>społeczne</a:t>
            </a:r>
          </a:p>
        </p:txBody>
      </p:sp>
    </p:spTree>
    <p:extLst>
      <p:ext uri="{BB962C8B-B14F-4D97-AF65-F5344CB8AC3E}">
        <p14:creationId xmlns:p14="http://schemas.microsoft.com/office/powerpoint/2010/main" val="180241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PROJEKT – ZASADA W/H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69268" y="168166"/>
            <a:ext cx="7315200" cy="6474372"/>
          </a:xfrm>
        </p:spPr>
        <p:txBody>
          <a:bodyPr>
            <a:normAutofit/>
          </a:bodyPr>
          <a:lstStyle/>
          <a:p>
            <a:r>
              <a:rPr lang="pl-PL" sz="2400" b="1" dirty="0"/>
              <a:t>CO</a:t>
            </a:r>
            <a:r>
              <a:rPr lang="pl-PL" sz="2400" dirty="0"/>
              <a:t> ma być rezultatem projektu? </a:t>
            </a:r>
            <a:r>
              <a:rPr lang="pl-PL" sz="2400" i="1" dirty="0"/>
              <a:t>(</a:t>
            </a:r>
            <a:r>
              <a:rPr lang="pl-PL" sz="2400" i="1" dirty="0" err="1"/>
              <a:t>what</a:t>
            </a:r>
            <a:r>
              <a:rPr lang="pl-PL" sz="2400" i="1" dirty="0"/>
              <a:t> ?) </a:t>
            </a:r>
            <a:endParaRPr lang="pl-PL" sz="2400" i="1" dirty="0" smtClean="0"/>
          </a:p>
          <a:p>
            <a:r>
              <a:rPr lang="pl-PL" sz="2400" b="1" dirty="0" smtClean="0"/>
              <a:t>DLACZEGO</a:t>
            </a:r>
            <a:r>
              <a:rPr lang="pl-PL" sz="2400" dirty="0" smtClean="0"/>
              <a:t> </a:t>
            </a:r>
            <a:r>
              <a:rPr lang="pl-PL" sz="2400" dirty="0"/>
              <a:t>należy zrealizować projekt - jakie są powody i korzyści? </a:t>
            </a:r>
            <a:r>
              <a:rPr lang="pl-PL" sz="2400" i="1" dirty="0"/>
              <a:t>(</a:t>
            </a:r>
            <a:r>
              <a:rPr lang="pl-PL" sz="2400" i="1" dirty="0" err="1"/>
              <a:t>why</a:t>
            </a:r>
            <a:r>
              <a:rPr lang="pl-PL" sz="2400" i="1" dirty="0"/>
              <a:t> ?) </a:t>
            </a:r>
            <a:endParaRPr lang="pl-PL" sz="2400" i="1" dirty="0" smtClean="0"/>
          </a:p>
          <a:p>
            <a:r>
              <a:rPr lang="pl-PL" sz="2400" b="1" dirty="0" smtClean="0"/>
              <a:t>JAKIE</a:t>
            </a:r>
            <a:r>
              <a:rPr lang="pl-PL" sz="2400" dirty="0" smtClean="0"/>
              <a:t> </a:t>
            </a:r>
            <a:r>
              <a:rPr lang="pl-PL" sz="2400" dirty="0"/>
              <a:t>są </a:t>
            </a:r>
            <a:r>
              <a:rPr lang="pl-PL" sz="2400" dirty="0" smtClean="0"/>
              <a:t>ryzyka w realizacji projektu? </a:t>
            </a:r>
            <a:r>
              <a:rPr lang="pl-PL" sz="2400" i="1" dirty="0"/>
              <a:t>(which?) </a:t>
            </a:r>
            <a:endParaRPr lang="pl-PL" sz="2400" i="1" dirty="0" smtClean="0"/>
          </a:p>
          <a:p>
            <a:r>
              <a:rPr lang="pl-PL" sz="2400" b="1" dirty="0" smtClean="0"/>
              <a:t>CO</a:t>
            </a:r>
            <a:r>
              <a:rPr lang="pl-PL" sz="2400" dirty="0" smtClean="0"/>
              <a:t> </a:t>
            </a:r>
            <a:r>
              <a:rPr lang="pl-PL" sz="2400" dirty="0"/>
              <a:t>może mieć wpływ na rezultat projektu? </a:t>
            </a:r>
            <a:r>
              <a:rPr lang="pl-PL" sz="2400" i="1" dirty="0"/>
              <a:t>(</a:t>
            </a:r>
            <a:r>
              <a:rPr lang="pl-PL" sz="2400" i="1" dirty="0" err="1"/>
              <a:t>what</a:t>
            </a:r>
            <a:r>
              <a:rPr lang="pl-PL" sz="2400" i="1" dirty="0"/>
              <a:t> ?) </a:t>
            </a:r>
            <a:endParaRPr lang="pl-PL" sz="2400" i="1" dirty="0" smtClean="0"/>
          </a:p>
          <a:p>
            <a:r>
              <a:rPr lang="pl-PL" sz="2400" b="1" dirty="0" smtClean="0"/>
              <a:t>KTO</a:t>
            </a:r>
            <a:r>
              <a:rPr lang="pl-PL" sz="2400" dirty="0" smtClean="0"/>
              <a:t> </a:t>
            </a:r>
            <a:r>
              <a:rPr lang="pl-PL" sz="2400" dirty="0"/>
              <a:t>będzie realizował projekt? </a:t>
            </a:r>
            <a:r>
              <a:rPr lang="pl-PL" sz="2400" i="1" dirty="0"/>
              <a:t>(</a:t>
            </a:r>
            <a:r>
              <a:rPr lang="pl-PL" sz="2400" i="1" dirty="0" err="1"/>
              <a:t>who</a:t>
            </a:r>
            <a:r>
              <a:rPr lang="pl-PL" sz="2400" i="1" dirty="0"/>
              <a:t>?) </a:t>
            </a:r>
            <a:endParaRPr lang="pl-PL" sz="2400" i="1" dirty="0" smtClean="0"/>
          </a:p>
          <a:p>
            <a:r>
              <a:rPr lang="pl-PL" sz="2400" b="1" dirty="0" smtClean="0"/>
              <a:t>KIEDY</a:t>
            </a:r>
            <a:r>
              <a:rPr lang="pl-PL" sz="2400" dirty="0" smtClean="0"/>
              <a:t> </a:t>
            </a:r>
            <a:r>
              <a:rPr lang="pl-PL" sz="2400" dirty="0"/>
              <a:t>projekt będzie realizowany/zakończony? </a:t>
            </a:r>
            <a:r>
              <a:rPr lang="pl-PL" sz="2400" i="1" dirty="0"/>
              <a:t>(when?) </a:t>
            </a:r>
            <a:endParaRPr lang="pl-PL" sz="2400" i="1" dirty="0" smtClean="0"/>
          </a:p>
          <a:p>
            <a:r>
              <a:rPr lang="pl-PL" sz="2400" b="1" dirty="0" smtClean="0"/>
              <a:t>JAK </a:t>
            </a:r>
            <a:r>
              <a:rPr lang="pl-PL" sz="2400" b="1" dirty="0"/>
              <a:t>DŁUGO </a:t>
            </a:r>
            <a:r>
              <a:rPr lang="pl-PL" sz="2400" dirty="0"/>
              <a:t>potrwa realizacja projektu? </a:t>
            </a:r>
            <a:r>
              <a:rPr lang="pl-PL" sz="2400" i="1" dirty="0"/>
              <a:t>(</a:t>
            </a:r>
            <a:r>
              <a:rPr lang="pl-PL" sz="2400" i="1" dirty="0" err="1"/>
              <a:t>how</a:t>
            </a:r>
            <a:r>
              <a:rPr lang="pl-PL" sz="2400" i="1" dirty="0"/>
              <a:t> </a:t>
            </a:r>
            <a:r>
              <a:rPr lang="pl-PL" sz="2400" i="1" dirty="0" err="1"/>
              <a:t>long</a:t>
            </a:r>
            <a:r>
              <a:rPr lang="pl-PL" sz="2400" i="1" dirty="0"/>
              <a:t> ?) </a:t>
            </a:r>
            <a:endParaRPr lang="pl-PL" sz="2400" i="1" dirty="0" smtClean="0"/>
          </a:p>
          <a:p>
            <a:r>
              <a:rPr lang="pl-PL" sz="2400" b="1" dirty="0" smtClean="0"/>
              <a:t>ILE</a:t>
            </a:r>
            <a:r>
              <a:rPr lang="pl-PL" sz="2400" dirty="0" smtClean="0"/>
              <a:t> </a:t>
            </a:r>
            <a:r>
              <a:rPr lang="pl-PL" sz="2400" dirty="0"/>
              <a:t>będzie kosztował? </a:t>
            </a:r>
            <a:r>
              <a:rPr lang="pl-PL" sz="2400" i="1" dirty="0"/>
              <a:t>(</a:t>
            </a:r>
            <a:r>
              <a:rPr lang="pl-PL" sz="2400" i="1" dirty="0" err="1"/>
              <a:t>how</a:t>
            </a:r>
            <a:r>
              <a:rPr lang="pl-PL" sz="2400" i="1" dirty="0"/>
              <a:t> much?) </a:t>
            </a:r>
            <a:endParaRPr lang="pl-PL" sz="2400" i="1" dirty="0" smtClean="0"/>
          </a:p>
          <a:p>
            <a:r>
              <a:rPr lang="pl-PL" sz="2400" b="1" dirty="0" smtClean="0"/>
              <a:t>JAK</a:t>
            </a:r>
            <a:r>
              <a:rPr lang="pl-PL" sz="2400" dirty="0" smtClean="0"/>
              <a:t> </a:t>
            </a:r>
            <a:r>
              <a:rPr lang="pl-PL" sz="2400" dirty="0"/>
              <a:t>projekt jest/będzie realizowany? </a:t>
            </a:r>
            <a:r>
              <a:rPr lang="pl-PL" sz="2400" i="1" dirty="0"/>
              <a:t>(</a:t>
            </a:r>
            <a:r>
              <a:rPr lang="pl-PL" sz="2400" i="1" dirty="0" err="1"/>
              <a:t>how</a:t>
            </a:r>
            <a:r>
              <a:rPr lang="pl-PL" sz="2400" i="1" dirty="0"/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429443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smtClean="0"/>
              <a:t>FUNKCJE PROJEKTÓW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400" b="1" dirty="0"/>
              <a:t>Narzędziowa</a:t>
            </a:r>
            <a:r>
              <a:rPr lang="pl-PL" sz="2400" dirty="0"/>
              <a:t> - pozwala coś wykonać w sposób uporządkowany. </a:t>
            </a:r>
            <a:endParaRPr lang="pl-PL" sz="2400" dirty="0" smtClean="0"/>
          </a:p>
          <a:p>
            <a:pPr marL="0" indent="0">
              <a:buNone/>
            </a:pPr>
            <a:endParaRPr lang="pl-PL" sz="2400" dirty="0"/>
          </a:p>
          <a:p>
            <a:r>
              <a:rPr lang="pl-PL" sz="2400" b="1" dirty="0" smtClean="0"/>
              <a:t>Promocyjna</a:t>
            </a:r>
            <a:r>
              <a:rPr lang="pl-PL" sz="2400" dirty="0" smtClean="0"/>
              <a:t> </a:t>
            </a:r>
            <a:r>
              <a:rPr lang="pl-PL" sz="2400" dirty="0"/>
              <a:t>- pozwala informować i pozyskiwać akceptację. </a:t>
            </a:r>
            <a:endParaRPr lang="pl-PL" sz="2400" dirty="0" smtClean="0"/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b="1" dirty="0" smtClean="0"/>
              <a:t>Kreacji</a:t>
            </a:r>
            <a:r>
              <a:rPr lang="pl-PL" sz="2400" dirty="0" smtClean="0"/>
              <a:t> </a:t>
            </a:r>
            <a:r>
              <a:rPr lang="pl-PL" sz="2400" dirty="0"/>
              <a:t>- pozwala tworzyć nowe rozwiązania i dokonywać zmian.</a:t>
            </a:r>
          </a:p>
        </p:txBody>
      </p:sp>
    </p:spTree>
    <p:extLst>
      <p:ext uri="{BB962C8B-B14F-4D97-AF65-F5344CB8AC3E}">
        <p14:creationId xmlns:p14="http://schemas.microsoft.com/office/powerpoint/2010/main" val="64370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1123837"/>
            <a:ext cx="3200401" cy="4601183"/>
          </a:xfrm>
        </p:spPr>
        <p:txBody>
          <a:bodyPr/>
          <a:lstStyle/>
          <a:p>
            <a:r>
              <a:rPr lang="pl-PL" b="1" dirty="0" smtClean="0"/>
              <a:t>ŚRODOWISKO PROJEKTOWE</a:t>
            </a:r>
            <a:endParaRPr lang="pl-PL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47090" y="210207"/>
            <a:ext cx="7998372" cy="6495393"/>
          </a:xfrm>
        </p:spPr>
        <p:txBody>
          <a:bodyPr>
            <a:normAutofit/>
          </a:bodyPr>
          <a:lstStyle/>
          <a:p>
            <a:r>
              <a:rPr lang="pl-PL" sz="2400" dirty="0"/>
              <a:t>Środowisko projektowe jest to zespół zjawisk, procesów, instytucji, grup i jednostek podlegających oddziaływaniu projektu i oddziałujących na jego </a:t>
            </a:r>
            <a:r>
              <a:rPr lang="pl-PL" sz="2400" dirty="0" smtClean="0"/>
              <a:t>przebieg</a:t>
            </a:r>
          </a:p>
          <a:p>
            <a:pPr marL="0" indent="0">
              <a:buNone/>
            </a:pPr>
            <a:endParaRPr lang="pl-PL" sz="2400" dirty="0" smtClean="0"/>
          </a:p>
          <a:p>
            <a:pPr marL="0" indent="0" algn="ctr">
              <a:buNone/>
            </a:pPr>
            <a:r>
              <a:rPr lang="pl-PL" sz="2400" u="sng" dirty="0"/>
              <a:t>Czynniki środowiska projektowego – oddziałujące na projekt – ich ilość jest zależna od</a:t>
            </a:r>
            <a:r>
              <a:rPr lang="pl-PL" sz="2400" dirty="0"/>
              <a:t>: </a:t>
            </a:r>
          </a:p>
          <a:p>
            <a:r>
              <a:rPr lang="pl-PL" sz="2400" dirty="0" smtClean="0"/>
              <a:t>wielkości </a:t>
            </a:r>
            <a:r>
              <a:rPr lang="pl-PL" sz="2400" dirty="0"/>
              <a:t>organizacji, w której projekt jest realizowany</a:t>
            </a:r>
            <a:r>
              <a:rPr lang="pl-PL" sz="2400" dirty="0" smtClean="0"/>
              <a:t>;</a:t>
            </a:r>
          </a:p>
          <a:p>
            <a:r>
              <a:rPr lang="pl-PL" sz="2400" dirty="0" smtClean="0"/>
              <a:t>uwarunkowań </a:t>
            </a:r>
            <a:r>
              <a:rPr lang="pl-PL" sz="2400" dirty="0"/>
              <a:t>gospodarczych funkcjonowania firmy </a:t>
            </a:r>
            <a:r>
              <a:rPr lang="pl-PL" sz="2400" i="1" dirty="0"/>
              <a:t>(podatki, trudności administracyjne, budowlane, inne); </a:t>
            </a:r>
            <a:endParaRPr lang="pl-PL" sz="2400" dirty="0" smtClean="0"/>
          </a:p>
          <a:p>
            <a:r>
              <a:rPr lang="pl-PL" sz="2400" dirty="0" smtClean="0"/>
              <a:t>ryzyka </a:t>
            </a:r>
            <a:r>
              <a:rPr lang="pl-PL" sz="2400" dirty="0"/>
              <a:t>politycznego funkcjonowania firmy </a:t>
            </a:r>
            <a:r>
              <a:rPr lang="pl-PL" sz="2400" i="1" dirty="0"/>
              <a:t>(niestabilność prawa – częsta zmiana wymagań technicznych, BHP i prawa pracy – zmiana minimalnego wynagrodzenia, dodatków za pracę, wymiaru urlopów, warunków zatrudniania i zwalniania pracownika, itp.) </a:t>
            </a:r>
            <a:endParaRPr lang="pl-PL" sz="2400" dirty="0"/>
          </a:p>
          <a:p>
            <a:r>
              <a:rPr lang="pl-PL" sz="2400" dirty="0" smtClean="0"/>
              <a:t>konkurencji </a:t>
            </a:r>
            <a:r>
              <a:rPr lang="pl-PL" sz="2400" dirty="0"/>
              <a:t>w danej branży w obszarze produkcji i </a:t>
            </a:r>
            <a:r>
              <a:rPr lang="pl-PL" sz="2400" dirty="0" smtClean="0"/>
              <a:t>usług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3433590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400" b="1" dirty="0" smtClean="0"/>
              <a:t>ETAPY PROJEKTU</a:t>
            </a:r>
            <a:endParaRPr lang="pl-PL" sz="4400" b="1" dirty="0"/>
          </a:p>
        </p:txBody>
      </p:sp>
      <p:pic>
        <p:nvPicPr>
          <p:cNvPr id="4" name="Symbol zastępczy zawartości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7658" y="386220"/>
            <a:ext cx="8101887" cy="607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9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b="1" dirty="0"/>
              <a:t>ETAPY PROJEKTU</a:t>
            </a:r>
          </a:p>
        </p:txBody>
      </p:sp>
      <p:pic>
        <p:nvPicPr>
          <p:cNvPr id="4" name="Symbol zastępczy zawartości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8933" y="955504"/>
            <a:ext cx="7725005" cy="521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05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1123837"/>
            <a:ext cx="3200401" cy="4601183"/>
          </a:xfrm>
        </p:spPr>
        <p:txBody>
          <a:bodyPr>
            <a:normAutofit/>
          </a:bodyPr>
          <a:lstStyle/>
          <a:p>
            <a:r>
              <a:rPr lang="pl-PL" sz="4000" dirty="0" smtClean="0"/>
              <a:t>Wzajemne oddziaływanie grup procesów w zarządzaniu projektami</a:t>
            </a:r>
            <a:endParaRPr lang="pl-PL" sz="4000" dirty="0"/>
          </a:p>
        </p:txBody>
      </p:sp>
      <p:pic>
        <p:nvPicPr>
          <p:cNvPr id="4" name="Symbol zastępczy zawartości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8133" y="1776248"/>
            <a:ext cx="8148405" cy="337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85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 smtClean="0"/>
              <a:t>Procesy w projekcie</a:t>
            </a:r>
            <a:endParaRPr lang="pl-PL" sz="4000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69267" y="864108"/>
            <a:ext cx="7608029" cy="5120640"/>
          </a:xfrm>
        </p:spPr>
        <p:txBody>
          <a:bodyPr/>
          <a:lstStyle/>
          <a:p>
            <a:r>
              <a:rPr lang="pl-PL" sz="2400" dirty="0"/>
              <a:t>G</a:t>
            </a:r>
            <a:r>
              <a:rPr lang="pl-PL" sz="2400" dirty="0" smtClean="0"/>
              <a:t>rupy </a:t>
            </a:r>
            <a:r>
              <a:rPr lang="pl-PL" sz="2400" dirty="0"/>
              <a:t>procesów łączą się poprzez rezultaty, które stanowią wyniki działań.</a:t>
            </a:r>
          </a:p>
          <a:p>
            <a:endParaRPr lang="pl-PL" sz="2400" dirty="0"/>
          </a:p>
          <a:p>
            <a:r>
              <a:rPr lang="pl-PL" sz="2400" dirty="0"/>
              <a:t>Rezultaty jednych działań są źródłem innych, występują iteracje działań oraz inne oddziaływania. </a:t>
            </a:r>
          </a:p>
          <a:p>
            <a:endParaRPr lang="pl-PL" sz="2400" dirty="0"/>
          </a:p>
          <a:p>
            <a:r>
              <a:rPr lang="pl-PL" sz="2400" dirty="0"/>
              <a:t>Występuje także przepływ dokumentów i produktów pomiędzy grupami. </a:t>
            </a:r>
            <a:endParaRPr lang="pl-PL" sz="2400" dirty="0" smtClean="0"/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dirty="0" smtClean="0"/>
              <a:t>Ponadto </a:t>
            </a:r>
            <a:r>
              <a:rPr lang="pl-PL" sz="2400" dirty="0"/>
              <a:t>grupy te nakładają się w różnych fazach realizacji projektów.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89198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000" b="1" dirty="0"/>
              <a:t>ETAPY </a:t>
            </a:r>
            <a:r>
              <a:rPr lang="pl-PL" sz="4000" b="1" dirty="0" smtClean="0"/>
              <a:t>PROJEKTU</a:t>
            </a:r>
            <a:br>
              <a:rPr lang="pl-PL" sz="4000" b="1" dirty="0" smtClean="0"/>
            </a:b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>1. INICJACJA PROJEKTU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84028" y="220717"/>
            <a:ext cx="8113986" cy="6411311"/>
          </a:xfrm>
        </p:spPr>
        <p:txBody>
          <a:bodyPr>
            <a:normAutofit/>
          </a:bodyPr>
          <a:lstStyle/>
          <a:p>
            <a:r>
              <a:rPr lang="pl-PL" sz="2400" dirty="0"/>
              <a:t>Inicjacja </a:t>
            </a:r>
            <a:r>
              <a:rPr lang="pl-PL" sz="2400" dirty="0" smtClean="0"/>
              <a:t>/ definiowanie projektu - to </a:t>
            </a:r>
            <a:r>
              <a:rPr lang="pl-PL" sz="2400" dirty="0"/>
              <a:t>etap projektu, podczas którego </a:t>
            </a:r>
            <a:r>
              <a:rPr lang="pl-PL" sz="2400" u="sng" dirty="0" smtClean="0"/>
              <a:t>określany </a:t>
            </a:r>
            <a:r>
              <a:rPr lang="pl-PL" sz="2400" u="sng" dirty="0"/>
              <a:t>jest jego cel i zakres. </a:t>
            </a:r>
            <a:endParaRPr lang="pl-PL" sz="2400" u="sng" dirty="0" smtClean="0"/>
          </a:p>
          <a:p>
            <a:endParaRPr lang="pl-PL" sz="800" u="sng" dirty="0" smtClean="0"/>
          </a:p>
          <a:p>
            <a:r>
              <a:rPr lang="pl-PL" sz="2400" dirty="0" smtClean="0"/>
              <a:t>Zbierane </a:t>
            </a:r>
            <a:r>
              <a:rPr lang="pl-PL" sz="2400" dirty="0"/>
              <a:t>są wymagania na poziomie biznesowym. Na tym etapie projekt powinien mieć jasno zdefiniowany cel.</a:t>
            </a:r>
          </a:p>
          <a:p>
            <a:endParaRPr lang="pl-PL" sz="800" dirty="0"/>
          </a:p>
          <a:p>
            <a:r>
              <a:rPr lang="pl-PL" sz="2400" dirty="0"/>
              <a:t>W ramach inicjacji projektu powinno się również </a:t>
            </a:r>
            <a:r>
              <a:rPr lang="pl-PL" sz="2400" u="sng" dirty="0"/>
              <a:t>określić jego </a:t>
            </a:r>
            <a:r>
              <a:rPr lang="pl-PL" sz="2400" u="sng" dirty="0" smtClean="0"/>
              <a:t>interesariuszy / udziałowców</a:t>
            </a:r>
            <a:r>
              <a:rPr lang="pl-PL" sz="2400" dirty="0" smtClean="0"/>
              <a:t> („</a:t>
            </a:r>
            <a:r>
              <a:rPr lang="pl-PL" sz="2400" dirty="0" err="1"/>
              <a:t>stakeholders</a:t>
            </a:r>
            <a:r>
              <a:rPr lang="pl-PL" sz="2400" dirty="0"/>
              <a:t>”). Do udziałowców projektu zalicza się między innymi: kierownika projektu, sponsora, klientów oraz użytkowników końcowych i zespół realizujący projekt </a:t>
            </a:r>
            <a:r>
              <a:rPr lang="pl-PL" sz="2400" i="1" dirty="0"/>
              <a:t>(w tym ewentualnych podwykonawców)</a:t>
            </a:r>
            <a:r>
              <a:rPr lang="pl-PL" sz="2400" dirty="0"/>
              <a:t>.</a:t>
            </a:r>
          </a:p>
          <a:p>
            <a:endParaRPr lang="pl-PL" dirty="0"/>
          </a:p>
          <a:p>
            <a:r>
              <a:rPr lang="pl-PL" i="1" dirty="0"/>
              <a:t>Różne metodyki definiują różne procesy i procedury pozwalające zrealizować cele tego etapu projektu. Określane są specjalne dokumenty, które powinny zostać wykonane oraz zatwierdzone przed rozpoczęciem kolejnego etapu.</a:t>
            </a:r>
          </a:p>
        </p:txBody>
      </p:sp>
    </p:spTree>
    <p:extLst>
      <p:ext uri="{BB962C8B-B14F-4D97-AF65-F5344CB8AC3E}">
        <p14:creationId xmlns:p14="http://schemas.microsoft.com/office/powerpoint/2010/main" val="411255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000" b="1" dirty="0"/>
              <a:t>ETAPY PROJEKTU</a:t>
            </a:r>
            <a:r>
              <a:rPr lang="pl-PL" dirty="0"/>
              <a:t/>
            </a:r>
            <a:br>
              <a:rPr lang="pl-PL" dirty="0"/>
            </a:br>
            <a:r>
              <a:rPr lang="pl-PL" dirty="0"/>
              <a:t/>
            </a:r>
            <a:br>
              <a:rPr lang="pl-PL" dirty="0"/>
            </a:br>
            <a:r>
              <a:rPr lang="pl-PL" dirty="0"/>
              <a:t>1. INICJACJA PROJEKTU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05048" y="864107"/>
            <a:ext cx="8113986" cy="5641795"/>
          </a:xfrm>
        </p:spPr>
        <p:txBody>
          <a:bodyPr>
            <a:normAutofit/>
          </a:bodyPr>
          <a:lstStyle/>
          <a:p>
            <a:r>
              <a:rPr lang="pl-PL" sz="2400" dirty="0" smtClean="0"/>
              <a:t>Definiuje się  </a:t>
            </a:r>
            <a:r>
              <a:rPr lang="pl-PL" sz="2400" dirty="0"/>
              <a:t>bardzo ogólne założenia, by ustalić, czy do projektu w ogóle warto </a:t>
            </a:r>
            <a:r>
              <a:rPr lang="pl-PL" sz="2400" dirty="0" smtClean="0"/>
              <a:t>przystępować.</a:t>
            </a:r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u="sng" dirty="0"/>
              <a:t> </a:t>
            </a:r>
            <a:r>
              <a:rPr lang="pl-PL" sz="2400" u="sng" dirty="0" smtClean="0"/>
              <a:t>W tym </a:t>
            </a:r>
            <a:r>
              <a:rPr lang="pl-PL" sz="2400" u="sng" dirty="0"/>
              <a:t>celu </a:t>
            </a:r>
            <a:r>
              <a:rPr lang="pl-PL" sz="2400" u="sng" dirty="0" smtClean="0"/>
              <a:t>należy </a:t>
            </a:r>
            <a:r>
              <a:rPr lang="pl-PL" sz="2400" u="sng" dirty="0"/>
              <a:t>określić</a:t>
            </a:r>
            <a:r>
              <a:rPr lang="pl-PL" sz="2400" u="sng" dirty="0" smtClean="0"/>
              <a:t>:</a:t>
            </a:r>
            <a:endParaRPr lang="pl-PL" sz="2400" u="sng" dirty="0"/>
          </a:p>
          <a:p>
            <a:r>
              <a:rPr lang="pl-PL" sz="2400" dirty="0"/>
              <a:t>Uzasadnienie biznesowe projektu</a:t>
            </a:r>
          </a:p>
          <a:p>
            <a:r>
              <a:rPr lang="pl-PL" sz="2400" dirty="0"/>
              <a:t>Korzyści z jego ukończenia </a:t>
            </a:r>
            <a:r>
              <a:rPr lang="pl-PL" sz="2400" i="1" dirty="0"/>
              <a:t>(tj. jaki szerszy cel biznesowy zostanie osiągnięty)</a:t>
            </a:r>
          </a:p>
          <a:p>
            <a:r>
              <a:rPr lang="pl-PL" sz="2400" dirty="0"/>
              <a:t>Główne końcowe rezultaty</a:t>
            </a:r>
          </a:p>
          <a:p>
            <a:r>
              <a:rPr lang="pl-PL" sz="2400" dirty="0"/>
              <a:t>Czym będzie przejawiać się pomyślne ukończenie projektu</a:t>
            </a:r>
            <a:endParaRPr lang="pl-PL" sz="2400" dirty="0" smtClean="0"/>
          </a:p>
          <a:p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298880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4593" y="1123837"/>
            <a:ext cx="3289738" cy="4601183"/>
          </a:xfrm>
        </p:spPr>
        <p:txBody>
          <a:bodyPr/>
          <a:lstStyle/>
          <a:p>
            <a:r>
              <a:rPr lang="pl-PL" sz="4000" b="1" dirty="0"/>
              <a:t>ETAPY PROJEKTU</a:t>
            </a:r>
            <a:br>
              <a:rPr lang="pl-PL" sz="4000" b="1" dirty="0"/>
            </a:b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2.  PLANOWANIE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69268" y="157655"/>
            <a:ext cx="7849766" cy="6700345"/>
          </a:xfrm>
        </p:spPr>
        <p:txBody>
          <a:bodyPr>
            <a:normAutofit/>
          </a:bodyPr>
          <a:lstStyle/>
          <a:p>
            <a:r>
              <a:rPr lang="pl-PL" sz="2400" dirty="0"/>
              <a:t>Gdy znany jest już inicjalny zakres projektu </a:t>
            </a:r>
            <a:r>
              <a:rPr lang="pl-PL" sz="2400" i="1" dirty="0"/>
              <a:t>(zdefiniowane są jego główne wymagania i cel) </a:t>
            </a:r>
            <a:r>
              <a:rPr lang="pl-PL" sz="2400" dirty="0"/>
              <a:t>oraz gdy ustalona została metoda jego prowadzenia należy zaplanować kolejne kroki</a:t>
            </a:r>
            <a:r>
              <a:rPr lang="pl-PL" sz="2400" dirty="0" smtClean="0"/>
              <a:t>.</a:t>
            </a:r>
          </a:p>
          <a:p>
            <a:r>
              <a:rPr lang="pl-PL" sz="2400" dirty="0" smtClean="0"/>
              <a:t>Można opracować </a:t>
            </a:r>
            <a:r>
              <a:rPr lang="pl-PL" sz="2400" dirty="0"/>
              <a:t>faktyczny plan realizacji projektu.</a:t>
            </a:r>
            <a:endParaRPr lang="pl-PL" sz="2400" dirty="0" smtClean="0"/>
          </a:p>
          <a:p>
            <a:endParaRPr lang="pl-PL" sz="800" dirty="0" smtClean="0"/>
          </a:p>
          <a:p>
            <a:r>
              <a:rPr lang="pl-PL" sz="2400" dirty="0" smtClean="0"/>
              <a:t>Można </a:t>
            </a:r>
            <a:r>
              <a:rPr lang="pl-PL" sz="2400" dirty="0"/>
              <a:t>zdefiniować kamienie milowe, główne zadania oraz zbudować zespoły je wykonujące</a:t>
            </a:r>
            <a:r>
              <a:rPr lang="pl-PL" sz="2400" dirty="0" smtClean="0"/>
              <a:t>.</a:t>
            </a:r>
          </a:p>
          <a:p>
            <a:endParaRPr lang="pl-PL" sz="800" dirty="0" smtClean="0"/>
          </a:p>
          <a:p>
            <a:r>
              <a:rPr lang="pl-PL" sz="2400" dirty="0" smtClean="0"/>
              <a:t>Zwykle </a:t>
            </a:r>
            <a:r>
              <a:rPr lang="pl-PL" sz="2400" dirty="0"/>
              <a:t>na tym etapie tworzy się harmonogram ogólny, który jest później uszczegóławiany oraz wyłania się struktura organizacyjna zespołów projektowych</a:t>
            </a:r>
            <a:r>
              <a:rPr lang="pl-PL" sz="2400" dirty="0" smtClean="0"/>
              <a:t>.</a:t>
            </a:r>
          </a:p>
          <a:p>
            <a:endParaRPr lang="pl-PL" sz="800" dirty="0" smtClean="0"/>
          </a:p>
          <a:p>
            <a:r>
              <a:rPr lang="pl-PL" sz="2400" dirty="0" smtClean="0"/>
              <a:t>Przy </a:t>
            </a:r>
            <a:r>
              <a:rPr lang="pl-PL" sz="2400" dirty="0"/>
              <a:t>dużych projektach ustala się też plan komunikacji </a:t>
            </a:r>
            <a:r>
              <a:rPr lang="pl-PL" sz="2400" i="1" dirty="0"/>
              <a:t>(sposób przepływu informacji w projekcie)</a:t>
            </a:r>
            <a:r>
              <a:rPr lang="pl-PL" sz="2400" dirty="0"/>
              <a:t>, harmonogramy raportowania i sposoby zarządzania ryzykiem.</a:t>
            </a:r>
          </a:p>
        </p:txBody>
      </p:sp>
    </p:spTree>
    <p:extLst>
      <p:ext uri="{BB962C8B-B14F-4D97-AF65-F5344CB8AC3E}">
        <p14:creationId xmlns:p14="http://schemas.microsoft.com/office/powerpoint/2010/main" val="242178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000" b="1" dirty="0"/>
              <a:t>ETAPY PROJEKTU</a:t>
            </a:r>
            <a:br>
              <a:rPr lang="pl-PL" sz="4000" b="1" dirty="0"/>
            </a:br>
            <a:r>
              <a:rPr lang="pl-PL" dirty="0"/>
              <a:t/>
            </a:r>
            <a:br>
              <a:rPr lang="pl-PL" dirty="0"/>
            </a:br>
            <a:r>
              <a:rPr lang="pl-PL" dirty="0"/>
              <a:t>2.  PLANOWANIE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05048" y="231229"/>
            <a:ext cx="7579420" cy="6547944"/>
          </a:xfrm>
        </p:spPr>
        <p:txBody>
          <a:bodyPr>
            <a:normAutofit/>
          </a:bodyPr>
          <a:lstStyle/>
          <a:p>
            <a:r>
              <a:rPr lang="pl-PL" sz="2400" u="sng" dirty="0"/>
              <a:t>Pytania, na które </a:t>
            </a:r>
            <a:r>
              <a:rPr lang="pl-PL" sz="2400" u="sng" dirty="0" smtClean="0"/>
              <a:t>należy sobie </a:t>
            </a:r>
            <a:r>
              <a:rPr lang="pl-PL" sz="2400" u="sng" dirty="0"/>
              <a:t>odpowiedzieć w tej fazie, to między innymi:</a:t>
            </a:r>
          </a:p>
          <a:p>
            <a:endParaRPr lang="pl-PL" sz="2400" dirty="0"/>
          </a:p>
          <a:p>
            <a:r>
              <a:rPr lang="pl-PL" sz="2400" dirty="0"/>
              <a:t>Jaki jest cel projektu?</a:t>
            </a:r>
          </a:p>
          <a:p>
            <a:r>
              <a:rPr lang="pl-PL" sz="2400" dirty="0"/>
              <a:t>Jakie są jego kluczowe wskaźniki wydajności (KPI)?</a:t>
            </a:r>
          </a:p>
          <a:p>
            <a:r>
              <a:rPr lang="pl-PL" sz="2400" dirty="0"/>
              <a:t>Jaki jest zakres projektu?</a:t>
            </a:r>
          </a:p>
          <a:p>
            <a:r>
              <a:rPr lang="pl-PL" sz="2400" dirty="0"/>
              <a:t>Jaki budżet jest do dyspozycji?</a:t>
            </a:r>
          </a:p>
          <a:p>
            <a:r>
              <a:rPr lang="pl-PL" sz="2400" dirty="0"/>
              <a:t>Jakie ryzyko wiąże się z projektem?</a:t>
            </a:r>
          </a:p>
          <a:p>
            <a:r>
              <a:rPr lang="pl-PL" sz="2400" dirty="0"/>
              <a:t>Którzy członkowie zespołu biorą udział w projekcie?</a:t>
            </a:r>
          </a:p>
          <a:p>
            <a:r>
              <a:rPr lang="pl-PL" sz="2400" dirty="0"/>
              <a:t>Jakie zadania będą do wykonania?</a:t>
            </a:r>
          </a:p>
          <a:p>
            <a:r>
              <a:rPr lang="pl-PL" sz="2400" dirty="0"/>
              <a:t>Jakie kamienie milowe należy osiągnąć</a:t>
            </a:r>
            <a:r>
              <a:rPr lang="pl-PL" sz="2400" dirty="0" smtClean="0"/>
              <a:t>?</a:t>
            </a:r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dirty="0"/>
              <a:t>Najlepiej zacząć od sformułowania celu projektu, korzystając z koncepcji SMART.</a:t>
            </a:r>
          </a:p>
        </p:txBody>
      </p:sp>
    </p:spTree>
    <p:extLst>
      <p:ext uri="{BB962C8B-B14F-4D97-AF65-F5344CB8AC3E}">
        <p14:creationId xmlns:p14="http://schemas.microsoft.com/office/powerpoint/2010/main" val="4194102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000" b="1" dirty="0"/>
              <a:t>ETAPY PROJEKTU</a:t>
            </a:r>
            <a:br>
              <a:rPr lang="pl-PL" sz="4000" b="1" dirty="0"/>
            </a:b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3.  REALIZACJA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626069" y="252248"/>
            <a:ext cx="7956331" cy="6285186"/>
          </a:xfrm>
        </p:spPr>
        <p:txBody>
          <a:bodyPr>
            <a:normAutofit/>
          </a:bodyPr>
          <a:lstStyle/>
          <a:p>
            <a:r>
              <a:rPr lang="pl-PL" sz="2400" dirty="0"/>
              <a:t>Na tym etapie, w wyniku uszczegółowienia wymagań powstaje produkt. </a:t>
            </a:r>
            <a:endParaRPr lang="pl-PL" sz="2400" dirty="0" smtClean="0"/>
          </a:p>
          <a:p>
            <a:pPr marL="0" indent="0">
              <a:buNone/>
            </a:pPr>
            <a:endParaRPr lang="pl-PL" sz="800" dirty="0" smtClean="0"/>
          </a:p>
          <a:p>
            <a:r>
              <a:rPr lang="pl-PL" sz="2400" dirty="0" smtClean="0"/>
              <a:t>Należy wykonać </a:t>
            </a:r>
            <a:r>
              <a:rPr lang="pl-PL" sz="2400" dirty="0"/>
              <a:t>wszystkie zidentyfikowane zadania składające się na projekt</a:t>
            </a:r>
            <a:endParaRPr lang="pl-PL" sz="2400" dirty="0" smtClean="0"/>
          </a:p>
          <a:p>
            <a:endParaRPr lang="pl-PL" sz="800" dirty="0" smtClean="0"/>
          </a:p>
          <a:p>
            <a:r>
              <a:rPr lang="pl-PL" sz="2400" dirty="0" smtClean="0"/>
              <a:t>W </a:t>
            </a:r>
            <a:r>
              <a:rPr lang="pl-PL" sz="2400" dirty="0"/>
              <a:t>zależności od specyfiki branży przygotowywane są projekty techniczne, uruchamiane są linie produkcyjne czy tworzone jest oprogramowanie. </a:t>
            </a:r>
            <a:endParaRPr lang="pl-PL" sz="2400" dirty="0" smtClean="0"/>
          </a:p>
          <a:p>
            <a:endParaRPr lang="pl-PL" sz="800" dirty="0" smtClean="0"/>
          </a:p>
          <a:p>
            <a:r>
              <a:rPr lang="pl-PL" sz="2400" dirty="0" smtClean="0"/>
              <a:t>Wykonywany </a:t>
            </a:r>
            <a:r>
              <a:rPr lang="pl-PL" sz="2400" dirty="0"/>
              <a:t>jest szereg czynności niezbędnych do wytworzenia gotowego produktu.</a:t>
            </a:r>
          </a:p>
        </p:txBody>
      </p:sp>
    </p:spTree>
    <p:extLst>
      <p:ext uri="{BB962C8B-B14F-4D97-AF65-F5344CB8AC3E}">
        <p14:creationId xmlns:p14="http://schemas.microsoft.com/office/powerpoint/2010/main" val="4007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3572" y="1123837"/>
            <a:ext cx="3321269" cy="4601183"/>
          </a:xfrm>
        </p:spPr>
        <p:txBody>
          <a:bodyPr/>
          <a:lstStyle/>
          <a:p>
            <a:r>
              <a:rPr lang="pl-PL" sz="4000" b="1" dirty="0"/>
              <a:t>ETAPY PROJEKTU</a:t>
            </a:r>
            <a:br>
              <a:rPr lang="pl-PL" sz="4000" b="1" dirty="0"/>
            </a:b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4.  MONITOROWANIE / KONTROLA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10455" y="338589"/>
            <a:ext cx="8156028" cy="3171865"/>
          </a:xfrm>
        </p:spPr>
        <p:txBody>
          <a:bodyPr>
            <a:normAutofit/>
          </a:bodyPr>
          <a:lstStyle/>
          <a:p>
            <a:r>
              <a:rPr lang="pl-PL" sz="2400" dirty="0"/>
              <a:t>Monitorowanie ma na celu dopilnowanie by projekt nie przekroczył zakresu, założonego czasu oraz budżetu </a:t>
            </a:r>
            <a:r>
              <a:rPr lang="pl-PL" sz="2400" i="1" dirty="0"/>
              <a:t>(relacje między tymi zmiennymi często obrazuje się za pomocą tak zwanego „trójkąta zarządzania projektami</a:t>
            </a:r>
            <a:r>
              <a:rPr lang="pl-PL" sz="2400" i="1" dirty="0" smtClean="0"/>
              <a:t>”)</a:t>
            </a:r>
            <a:r>
              <a:rPr lang="pl-PL" sz="2400" dirty="0" smtClean="0"/>
              <a:t>.</a:t>
            </a:r>
          </a:p>
          <a:p>
            <a:r>
              <a:rPr lang="pl-PL" sz="2400" dirty="0"/>
              <a:t>Trwa ona równolegle do fazy wykonywania </a:t>
            </a:r>
            <a:r>
              <a:rPr lang="pl-PL" sz="2400" dirty="0" smtClean="0"/>
              <a:t>projektu</a:t>
            </a:r>
            <a:endParaRPr lang="pl-PL" sz="800" dirty="0" smtClean="0"/>
          </a:p>
          <a:p>
            <a:r>
              <a:rPr lang="pl-PL" sz="2400" dirty="0"/>
              <a:t>W ramach monitorowania zarządza się </a:t>
            </a:r>
            <a:r>
              <a:rPr lang="pl-PL" sz="2400" dirty="0" smtClean="0"/>
              <a:t>także </a:t>
            </a:r>
            <a:r>
              <a:rPr lang="pl-PL" sz="2400" dirty="0"/>
              <a:t>ryzykiem.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389" y="3121572"/>
            <a:ext cx="4559377" cy="341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1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1123837"/>
            <a:ext cx="3426372" cy="4601183"/>
          </a:xfrm>
        </p:spPr>
        <p:txBody>
          <a:bodyPr/>
          <a:lstStyle/>
          <a:p>
            <a:r>
              <a:rPr lang="pl-PL" sz="4000" b="1" dirty="0"/>
              <a:t>ETAPY PROJEKTU</a:t>
            </a:r>
            <a:r>
              <a:rPr lang="pl-PL" dirty="0"/>
              <a:t/>
            </a:r>
            <a:br>
              <a:rPr lang="pl-PL" dirty="0"/>
            </a:br>
            <a:r>
              <a:rPr lang="pl-PL" dirty="0"/>
              <a:t/>
            </a:r>
            <a:br>
              <a:rPr lang="pl-PL" dirty="0"/>
            </a:br>
            <a:r>
              <a:rPr lang="pl-PL" dirty="0"/>
              <a:t>5</a:t>
            </a:r>
            <a:r>
              <a:rPr lang="pl-PL" dirty="0" smtClean="0"/>
              <a:t>.  ZAKOŃCZENIE I OCENA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69268" y="388883"/>
            <a:ext cx="7315200" cy="6190593"/>
          </a:xfrm>
        </p:spPr>
        <p:txBody>
          <a:bodyPr>
            <a:normAutofit/>
          </a:bodyPr>
          <a:lstStyle/>
          <a:p>
            <a:r>
              <a:rPr lang="pl-PL" sz="2400" dirty="0"/>
              <a:t>Udany projekt powinien się zakończyć wdrożeniem gotowego produktu </a:t>
            </a:r>
            <a:r>
              <a:rPr lang="pl-PL" sz="2400" i="1" dirty="0"/>
              <a:t>(uruchomieniem linii produkcyjnej, wdrożeniem nowego systemu, otwarciem nowego budynku itp.)</a:t>
            </a:r>
            <a:r>
              <a:rPr lang="pl-PL" sz="2400" dirty="0"/>
              <a:t>.</a:t>
            </a:r>
          </a:p>
          <a:p>
            <a:endParaRPr lang="pl-PL" sz="2400" dirty="0"/>
          </a:p>
          <a:p>
            <a:r>
              <a:rPr lang="pl-PL" sz="2400" dirty="0"/>
              <a:t>W ramach oceny i zamknięcia projektu dokonywane jest podsumowanie. </a:t>
            </a:r>
            <a:endParaRPr lang="pl-PL" sz="2400" dirty="0" smtClean="0"/>
          </a:p>
          <a:p>
            <a:pPr marL="0" indent="0">
              <a:buNone/>
            </a:pPr>
            <a:endParaRPr lang="pl-PL" sz="2400" dirty="0" smtClean="0"/>
          </a:p>
          <a:p>
            <a:r>
              <a:rPr lang="pl-PL" sz="2400" dirty="0" smtClean="0"/>
              <a:t>Wyciągane </a:t>
            </a:r>
            <a:r>
              <a:rPr lang="pl-PL" sz="2400" dirty="0"/>
              <a:t>są wnioski dla organizacji, analizowane są popełnione błędy.</a:t>
            </a:r>
          </a:p>
        </p:txBody>
      </p:sp>
    </p:spTree>
    <p:extLst>
      <p:ext uri="{BB962C8B-B14F-4D97-AF65-F5344CB8AC3E}">
        <p14:creationId xmlns:p14="http://schemas.microsoft.com/office/powerpoint/2010/main" val="409811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amka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47e3b31b-7d2c-4e73-ad08-1cd089033e9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BD1A13CC3892747B353EE973F0DA004" ma:contentTypeVersion="12" ma:contentTypeDescription="Utwórz nowy dokument." ma:contentTypeScope="" ma:versionID="d692614c289c386ae362c7b18f0bcf23">
  <xsd:schema xmlns:xsd="http://www.w3.org/2001/XMLSchema" xmlns:xs="http://www.w3.org/2001/XMLSchema" xmlns:p="http://schemas.microsoft.com/office/2006/metadata/properties" xmlns:ns2="47e3b31b-7d2c-4e73-ad08-1cd089033e99" xmlns:ns3="db3959ca-35cd-49d4-bb64-c0d7d4f8494a" targetNamespace="http://schemas.microsoft.com/office/2006/metadata/properties" ma:root="true" ma:fieldsID="aa696e2f172817dfd90f48c29a3a16b1" ns2:_="" ns3:_="">
    <xsd:import namespace="47e3b31b-7d2c-4e73-ad08-1cd089033e99"/>
    <xsd:import namespace="db3959ca-35cd-49d4-bb64-c0d7d4f849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e3b31b-7d2c-4e73-ad08-1cd089033e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3959ca-35cd-49d4-bb64-c0d7d4f8494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541854-87B3-4953-A183-EF3BD285377B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FB9BFA2-1FA5-44A1-B975-10D6BF58EC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04620E-E831-4894-A933-B84786CD465D}"/>
</file>

<file path=docProps/app.xml><?xml version="1.0" encoding="utf-8"?>
<Properties xmlns="http://schemas.openxmlformats.org/officeDocument/2006/extended-properties" xmlns:vt="http://schemas.openxmlformats.org/officeDocument/2006/docPropsVTypes">
  <Template>Motyw architektoniczny</Template>
  <TotalTime>0</TotalTime>
  <Words>2288</Words>
  <Application>Microsoft Office PowerPoint</Application>
  <PresentationFormat>Panoramiczny</PresentationFormat>
  <Paragraphs>256</Paragraphs>
  <Slides>40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40</vt:i4>
      </vt:variant>
    </vt:vector>
  </HeadingPairs>
  <TitlesOfParts>
    <vt:vector size="44" baseType="lpstr">
      <vt:lpstr>Calibri</vt:lpstr>
      <vt:lpstr>Corbel</vt:lpstr>
      <vt:lpstr>Wingdings 2</vt:lpstr>
      <vt:lpstr>Ramka</vt:lpstr>
      <vt:lpstr>ZARZĄDZANIE PROJEKTAMI</vt:lpstr>
      <vt:lpstr>PROJEKT  TO PROBLEM PRZEZNACZONY DO ROZWIĄZANIA.</vt:lpstr>
      <vt:lpstr>OTOCZENIE PRZEDSIĘBIORSTWA</vt:lpstr>
      <vt:lpstr>BADANIE RYNKU / OTOCZENIA</vt:lpstr>
      <vt:lpstr>OTOCZENIE             PB.</vt:lpstr>
      <vt:lpstr>OTOCZENIE             PB.</vt:lpstr>
      <vt:lpstr>OTOCZENIE DALSZE</vt:lpstr>
      <vt:lpstr>Reakcje przedsiębiorstwa na otoczenie:</vt:lpstr>
      <vt:lpstr>ZARZĄDZANIE PRZEZ PROJEKTY</vt:lpstr>
      <vt:lpstr>DEFINICJA PROJEKTU</vt:lpstr>
      <vt:lpstr>DEFINICJA PROJEKTU</vt:lpstr>
      <vt:lpstr>DEFINICJA PROJEKTU</vt:lpstr>
      <vt:lpstr>Prezentacja programu PowerPoint</vt:lpstr>
      <vt:lpstr>PROJEKT</vt:lpstr>
      <vt:lpstr>PROJEKT</vt:lpstr>
      <vt:lpstr>CECHY PROJEKTU</vt:lpstr>
      <vt:lpstr>CECHY PROJEKTU</vt:lpstr>
      <vt:lpstr>ZARZĄDZANIE PROJEKTAMI</vt:lpstr>
      <vt:lpstr>ZARZĄDZANIE PROJEKTAMI</vt:lpstr>
      <vt:lpstr>METODYKA</vt:lpstr>
      <vt:lpstr>ZARZĄDZANIE PROJEKTEM</vt:lpstr>
      <vt:lpstr>ZARZĄDZANIE PROJEKTEM</vt:lpstr>
      <vt:lpstr>CECHY PROJEKTU</vt:lpstr>
      <vt:lpstr>CECHY PROJEKTU</vt:lpstr>
      <vt:lpstr>OGRANICZENIA PROJEKTU</vt:lpstr>
      <vt:lpstr>Przyczyny rozpoczynania projektów</vt:lpstr>
      <vt:lpstr>PROJEKT – ZASADA W/H</vt:lpstr>
      <vt:lpstr>FUNKCJE PROJEKTÓW</vt:lpstr>
      <vt:lpstr>ŚRODOWISKO PROJEKTOWE</vt:lpstr>
      <vt:lpstr>ETAPY PROJEKTU</vt:lpstr>
      <vt:lpstr>ETAPY PROJEKTU</vt:lpstr>
      <vt:lpstr>Wzajemne oddziaływanie grup procesów w zarządzaniu projektami</vt:lpstr>
      <vt:lpstr>Procesy w projekcie</vt:lpstr>
      <vt:lpstr>ETAPY PROJEKTU  1. INICJACJA PROJEKTU</vt:lpstr>
      <vt:lpstr>ETAPY PROJEKTU  1. INICJACJA PROJEKTU</vt:lpstr>
      <vt:lpstr>ETAPY PROJEKTU  2.  PLANOWANIE</vt:lpstr>
      <vt:lpstr>ETAPY PROJEKTU  2.  PLANOWANIE</vt:lpstr>
      <vt:lpstr>ETAPY PROJEKTU  3.  REALIZACJA</vt:lpstr>
      <vt:lpstr>ETAPY PROJEKTU  4.  MONITOROWANIE / KONTROLA</vt:lpstr>
      <vt:lpstr>ETAPY PROJEKTU  5.  ZAKOŃCZENIE I OCENA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2023-10-07T07:01:24Z</dcterms:created>
  <dcterms:modified xsi:type="dcterms:W3CDTF">2024-10-08T09:01:07Z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0x010100ABD1A13CC3892747B353EE973F0DA004</vt:lpwstr>
  </property>
</Properties>
</file>